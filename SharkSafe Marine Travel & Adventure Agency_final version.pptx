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Inter" panose="020B0604020202020204" charset="0"/>
      <p:regular r:id="rId13"/>
      <p:bold r:id="rId14"/>
      <p:italic r:id="rId15"/>
      <p:boldItalic r:id="rId16"/>
    </p:embeddedFont>
    <p:embeddedFont>
      <p:font typeface="Inter Medium" panose="020B0604020202020204" charset="0"/>
      <p:regular r:id="rId17"/>
      <p:bold r:id="rId18"/>
      <p:italic r:id="rId19"/>
      <p:boldItalic r:id="rId20"/>
    </p:embeddedFont>
    <p:embeddedFont>
      <p:font typeface="Inter SemiBold" panose="020B0604020202020204" charset="0"/>
      <p:regular r:id="rId21"/>
      <p:bold r:id="rId22"/>
      <p:italic r:id="rId23"/>
      <p:boldItalic r:id="rId24"/>
    </p:embeddedFont>
    <p:embeddedFont>
      <p:font typeface="Montserrat" panose="00000500000000000000" pitchFamily="2" charset="0"/>
      <p:regular r:id="rId25"/>
      <p:bold r:id="rId26"/>
    </p:embeddedFont>
    <p:embeddedFont>
      <p:font typeface="Montserrat SemiBold" panose="00000700000000000000" pitchFamily="2" charset="0"/>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h64eab137de0e1647_2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h64eab137de0e1647_2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h364f5c370c1ffbea_16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h364f5c370c1ffbea_16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h364f5c370c1ffbea_16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h364f5c370c1ffbea_16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h64eab137de0e1647_21_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h64eab137de0e1647_2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h64eab137de0e1647_20_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h64eab137de0e1647_2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h64eab137de0e1647_19_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h64eab137de0e1647_19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he1c35bdbdd52a2c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he1c35bdbdd52a2c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h64eab137de0e1647_0_19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h64eab137de0e1647_0_19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h64eab137de0e1647_0_20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h64eab137de0e1647_0_20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h7b28da1ea78f35c6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h7b28da1ea78f35c6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ted (h64eab137de0e1647_14_0)">
  <p:cSld name="Generated (h64eab137de0e1647_14_0)">
    <p:spTree>
      <p:nvGrpSpPr>
        <p:cNvPr id="1"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0" name="Google Shape;2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6"/>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9"/>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5" name="Google Shape;3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10"/>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10"/>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10"/>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1" name="Google Shape;4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1"/>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4" name="Google Shape;44;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2"/>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8" name="Google Shape;4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5.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jp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Shape 54"/>
        <p:cNvGrpSpPr/>
        <p:nvPr/>
      </p:nvGrpSpPr>
      <p:grpSpPr>
        <a:xfrm>
          <a:off x="0" y="0"/>
          <a:ext cx="0" cy="0"/>
          <a:chOff x="0" y="0"/>
          <a:chExt cx="0" cy="0"/>
        </a:xfrm>
      </p:grpSpPr>
      <p:pic>
        <p:nvPicPr>
          <p:cNvPr id="55" name="Google Shape;55;p14"/>
          <p:cNvPicPr preferRelativeResize="0"/>
          <p:nvPr/>
        </p:nvPicPr>
        <p:blipFill rotWithShape="1">
          <a:blip r:embed="rId3">
            <a:alphaModFix amt="22000"/>
          </a:blip>
          <a:srcRect/>
          <a:stretch/>
        </p:blipFill>
        <p:spPr>
          <a:xfrm>
            <a:off x="0" y="0"/>
            <a:ext cx="9144000" cy="5143500"/>
          </a:xfrm>
          <a:prstGeom prst="rect">
            <a:avLst/>
          </a:prstGeom>
          <a:noFill/>
          <a:ln>
            <a:noFill/>
          </a:ln>
        </p:spPr>
      </p:pic>
      <p:grpSp>
        <p:nvGrpSpPr>
          <p:cNvPr id="56" name="Google Shape;56;p14"/>
          <p:cNvGrpSpPr/>
          <p:nvPr/>
        </p:nvGrpSpPr>
        <p:grpSpPr>
          <a:xfrm>
            <a:off x="0" y="2381250"/>
            <a:ext cx="9144000" cy="2762400"/>
            <a:chOff x="0" y="2381250"/>
            <a:chExt cx="9144000" cy="2762400"/>
          </a:xfrm>
        </p:grpSpPr>
        <p:pic>
          <p:nvPicPr>
            <p:cNvPr id="57" name="Google Shape;57;p14"/>
            <p:cNvPicPr preferRelativeResize="0"/>
            <p:nvPr/>
          </p:nvPicPr>
          <p:blipFill rotWithShape="1">
            <a:blip r:embed="rId4">
              <a:alphaModFix/>
            </a:blip>
            <a:srcRect/>
            <a:stretch/>
          </p:blipFill>
          <p:spPr>
            <a:xfrm>
              <a:off x="0" y="2381250"/>
              <a:ext cx="9144000" cy="2762400"/>
            </a:xfrm>
            <a:prstGeom prst="rect">
              <a:avLst/>
            </a:prstGeom>
            <a:noFill/>
            <a:ln>
              <a:noFill/>
            </a:ln>
          </p:spPr>
        </p:pic>
        <p:pic>
          <p:nvPicPr>
            <p:cNvPr id="58" name="Google Shape;58;p14"/>
            <p:cNvPicPr preferRelativeResize="0"/>
            <p:nvPr/>
          </p:nvPicPr>
          <p:blipFill rotWithShape="1">
            <a:blip r:embed="rId5">
              <a:alphaModFix/>
            </a:blip>
            <a:srcRect/>
            <a:stretch/>
          </p:blipFill>
          <p:spPr>
            <a:xfrm>
              <a:off x="0" y="2857500"/>
              <a:ext cx="9144000" cy="2286000"/>
            </a:xfrm>
            <a:prstGeom prst="rect">
              <a:avLst/>
            </a:prstGeom>
            <a:noFill/>
            <a:ln>
              <a:noFill/>
            </a:ln>
          </p:spPr>
        </p:pic>
      </p:grpSp>
      <p:grpSp>
        <p:nvGrpSpPr>
          <p:cNvPr id="59" name="Google Shape;59;p14"/>
          <p:cNvGrpSpPr/>
          <p:nvPr/>
        </p:nvGrpSpPr>
        <p:grpSpPr>
          <a:xfrm>
            <a:off x="742950" y="557213"/>
            <a:ext cx="532448" cy="309660"/>
            <a:chOff x="95250" y="0"/>
            <a:chExt cx="409575" cy="238200"/>
          </a:xfrm>
        </p:grpSpPr>
        <p:sp>
          <p:nvSpPr>
            <p:cNvPr id="60" name="Google Shape;60;p14"/>
            <p:cNvSpPr/>
            <p:nvPr/>
          </p:nvSpPr>
          <p:spPr>
            <a:xfrm>
              <a:off x="95250" y="0"/>
              <a:ext cx="190500" cy="238200"/>
            </a:xfrm>
            <a:custGeom>
              <a:avLst/>
              <a:gdLst/>
              <a:ahLst/>
              <a:cxnLst/>
              <a:rect l="l" t="t" r="r" b="b"/>
              <a:pathLst>
                <a:path w="120000" h="120000" extrusionOk="0">
                  <a:moveTo>
                    <a:pt x="0" y="96000"/>
                  </a:moveTo>
                  <a:quadBezTo>
                    <a:pt x="30000" y="24000"/>
                    <a:pt x="90000" y="0"/>
                  </a:quadBezTo>
                  <a:quadBezTo>
                    <a:pt x="60000" y="72000"/>
                    <a:pt x="120000" y="120000"/>
                  </a:quadBezTo>
                  <a:lnTo>
                    <a:pt x="0" y="120000"/>
                  </a:lnTo>
                  <a:close/>
                </a:path>
              </a:pathLst>
            </a:cu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 name="Google Shape;61;p14"/>
            <p:cNvSpPr/>
            <p:nvPr/>
          </p:nvSpPr>
          <p:spPr>
            <a:xfrm>
              <a:off x="333375" y="47625"/>
              <a:ext cx="38100" cy="190500"/>
            </a:xfrm>
            <a:prstGeom prst="rect">
              <a:avLst/>
            </a:prstGeom>
            <a:solidFill>
              <a:srgbClr val="8DA9C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 name="Google Shape;62;p14"/>
            <p:cNvSpPr/>
            <p:nvPr/>
          </p:nvSpPr>
          <p:spPr>
            <a:xfrm>
              <a:off x="400050" y="114300"/>
              <a:ext cx="38100" cy="123900"/>
            </a:xfrm>
            <a:prstGeom prst="rect">
              <a:avLst/>
            </a:prstGeom>
            <a:solidFill>
              <a:srgbClr val="F4F7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 name="Google Shape;63;p14"/>
            <p:cNvSpPr/>
            <p:nvPr/>
          </p:nvSpPr>
          <p:spPr>
            <a:xfrm>
              <a:off x="466725" y="76200"/>
              <a:ext cx="38100" cy="1620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64" name="Google Shape;64;p14"/>
          <p:cNvGrpSpPr/>
          <p:nvPr/>
        </p:nvGrpSpPr>
        <p:grpSpPr>
          <a:xfrm>
            <a:off x="476250" y="1238250"/>
            <a:ext cx="8001000" cy="3090300"/>
            <a:chOff x="476250" y="1238250"/>
            <a:chExt cx="8001000" cy="3090300"/>
          </a:xfrm>
        </p:grpSpPr>
        <p:sp>
          <p:nvSpPr>
            <p:cNvPr id="65" name="Google Shape;65;p14"/>
            <p:cNvSpPr txBox="1"/>
            <p:nvPr/>
          </p:nvSpPr>
          <p:spPr>
            <a:xfrm>
              <a:off x="476250" y="1238250"/>
              <a:ext cx="7810500" cy="2382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000">
                  <a:solidFill>
                    <a:srgbClr val="8DA9C4"/>
                  </a:solidFill>
                  <a:latin typeface="Inter SemiBold"/>
                  <a:ea typeface="Inter SemiBold"/>
                  <a:cs typeface="Inter SemiBold"/>
                  <a:sym typeface="Inter SemiBold"/>
                </a:rPr>
                <a:t>Data Wrangling Quest by Ironhack</a:t>
              </a:r>
              <a:endParaRPr sz="1000" b="0">
                <a:solidFill>
                  <a:srgbClr val="8DA9C4"/>
                </a:solidFill>
                <a:latin typeface="Inter SemiBold"/>
                <a:ea typeface="Inter SemiBold"/>
                <a:cs typeface="Inter SemiBold"/>
                <a:sym typeface="Inter SemiBold"/>
              </a:endParaRPr>
            </a:p>
          </p:txBody>
        </p:sp>
        <p:sp>
          <p:nvSpPr>
            <p:cNvPr id="66" name="Google Shape;66;p14"/>
            <p:cNvSpPr txBox="1"/>
            <p:nvPr/>
          </p:nvSpPr>
          <p:spPr>
            <a:xfrm>
              <a:off x="476250" y="1524000"/>
              <a:ext cx="8001000" cy="9048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2775" b="1">
                  <a:solidFill>
                    <a:srgbClr val="FFFFFF"/>
                  </a:solidFill>
                  <a:latin typeface="Montserrat"/>
                  <a:ea typeface="Montserrat"/>
                  <a:cs typeface="Montserrat"/>
                  <a:sym typeface="Montserrat"/>
                </a:rPr>
                <a:t>SharkSafe Marine Travel &amp; Adventure Agency</a:t>
              </a:r>
              <a:endParaRPr sz="2775" b="1">
                <a:solidFill>
                  <a:srgbClr val="FFFFFF"/>
                </a:solidFill>
                <a:latin typeface="Montserrat"/>
                <a:ea typeface="Montserrat"/>
                <a:cs typeface="Montserrat"/>
                <a:sym typeface="Montserrat"/>
              </a:endParaRPr>
            </a:p>
          </p:txBody>
        </p:sp>
        <p:sp>
          <p:nvSpPr>
            <p:cNvPr id="67" name="Google Shape;67;p14"/>
            <p:cNvSpPr txBox="1"/>
            <p:nvPr/>
          </p:nvSpPr>
          <p:spPr>
            <a:xfrm>
              <a:off x="476250" y="2571750"/>
              <a:ext cx="8001000" cy="381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800" b="0">
                  <a:solidFill>
                    <a:srgbClr val="8DA9C4"/>
                  </a:solidFill>
                  <a:latin typeface="Montserrat SemiBold"/>
                  <a:ea typeface="Montserrat SemiBold"/>
                  <a:cs typeface="Montserrat SemiBold"/>
                  <a:sym typeface="Montserrat SemiBold"/>
                </a:rPr>
                <a:t>Data-Informed Product Strategy</a:t>
              </a:r>
              <a:endParaRPr sz="1800" b="0">
                <a:solidFill>
                  <a:srgbClr val="8DA9C4"/>
                </a:solidFill>
                <a:latin typeface="Montserrat SemiBold"/>
                <a:ea typeface="Montserrat SemiBold"/>
                <a:cs typeface="Montserrat SemiBold"/>
                <a:sym typeface="Montserrat SemiBold"/>
              </a:endParaRPr>
            </a:p>
          </p:txBody>
        </p:sp>
        <p:cxnSp>
          <p:nvCxnSpPr>
            <p:cNvPr id="68" name="Google Shape;68;p14"/>
            <p:cNvCxnSpPr/>
            <p:nvPr/>
          </p:nvCxnSpPr>
          <p:spPr>
            <a:xfrm>
              <a:off x="476250" y="3095625"/>
              <a:ext cx="1143000" cy="0"/>
            </a:xfrm>
            <a:prstGeom prst="straightConnector1">
              <a:avLst/>
            </a:prstGeom>
            <a:solidFill>
              <a:srgbClr val="FFFFFF"/>
            </a:solidFill>
            <a:ln w="28575" cap="rnd" cmpd="sng">
              <a:solidFill>
                <a:srgbClr val="1D70A2"/>
              </a:solidFill>
              <a:prstDash val="solid"/>
              <a:round/>
              <a:headEnd type="none" w="sm" len="sm"/>
              <a:tailEnd type="none" w="sm" len="sm"/>
            </a:ln>
          </p:spPr>
        </p:cxnSp>
        <p:sp>
          <p:nvSpPr>
            <p:cNvPr id="69" name="Google Shape;69;p14"/>
            <p:cNvSpPr txBox="1"/>
            <p:nvPr/>
          </p:nvSpPr>
          <p:spPr>
            <a:xfrm>
              <a:off x="547200" y="3524250"/>
              <a:ext cx="7810500" cy="804300"/>
            </a:xfrm>
            <a:prstGeom prst="rect">
              <a:avLst/>
            </a:prstGeom>
            <a:solidFill>
              <a:srgbClr val="8DA9C4">
                <a:alpha val="40000"/>
              </a:srgbClr>
            </a:solidFill>
            <a:ln>
              <a:noFill/>
            </a:ln>
            <a:effectLst>
              <a:outerShdw blurRad="57150" dist="19050" dir="5400000" algn="bl" rotWithShape="0">
                <a:srgbClr val="000000">
                  <a:alpha val="50000"/>
                </a:srgbClr>
              </a:outerShdw>
            </a:effectLst>
          </p:spPr>
          <p:txBody>
            <a:bodyPr spcFirstLastPara="1" wrap="square" lIns="0" tIns="0" rIns="0" bIns="0" anchor="ctr" anchorCtr="0">
              <a:noAutofit/>
            </a:bodyPr>
            <a:lstStyle/>
            <a:p>
              <a:pPr marL="457200" lvl="0" indent="0" algn="l" rtl="0">
                <a:spcBef>
                  <a:spcPts val="0"/>
                </a:spcBef>
                <a:spcAft>
                  <a:spcPts val="0"/>
                </a:spcAft>
                <a:buNone/>
              </a:pPr>
              <a:r>
                <a:rPr lang="en-GB" sz="1100" dirty="0">
                  <a:solidFill>
                    <a:schemeClr val="lt1"/>
                  </a:solidFill>
                  <a:latin typeface="Inter"/>
                  <a:ea typeface="Inter"/>
                  <a:cs typeface="Inter"/>
                  <a:sym typeface="Inter"/>
                </a:rPr>
                <a:t>A data analytics project designed to explore historical shark incident data and transform it into actionable insights for the marine tourism industry.</a:t>
              </a:r>
              <a:endParaRPr sz="1100" dirty="0">
                <a:solidFill>
                  <a:schemeClr val="lt1"/>
                </a:solidFill>
                <a:latin typeface="Inter"/>
                <a:ea typeface="Inter"/>
                <a:cs typeface="Inter"/>
                <a:sym typeface="Inter"/>
              </a:endParaRPr>
            </a:p>
          </p:txBody>
        </p:sp>
      </p:grpSp>
      <p:sp>
        <p:nvSpPr>
          <p:cNvPr id="2" name="CaixaDeTexto 1">
            <a:extLst>
              <a:ext uri="{FF2B5EF4-FFF2-40B4-BE49-F238E27FC236}">
                <a16:creationId xmlns:a16="http://schemas.microsoft.com/office/drawing/2014/main" id="{5293EACE-DB59-CF73-F93A-71AFDC2C20E7}"/>
              </a:ext>
            </a:extLst>
          </p:cNvPr>
          <p:cNvSpPr txBox="1"/>
          <p:nvPr/>
        </p:nvSpPr>
        <p:spPr>
          <a:xfrm>
            <a:off x="4572000" y="4707107"/>
            <a:ext cx="3796146" cy="338554"/>
          </a:xfrm>
          <a:prstGeom prst="rect">
            <a:avLst/>
          </a:prstGeom>
          <a:noFill/>
        </p:spPr>
        <p:txBody>
          <a:bodyPr wrap="square" rtlCol="0">
            <a:spAutoFit/>
          </a:bodyPr>
          <a:lstStyle/>
          <a:p>
            <a:r>
              <a:rPr lang="pt-PT" sz="800" b="1" dirty="0">
                <a:solidFill>
                  <a:schemeClr val="bg1"/>
                </a:solidFill>
                <a:latin typeface="Inter" panose="020B0604020202020204" charset="0"/>
                <a:ea typeface="Inter" panose="020B0604020202020204" charset="0"/>
              </a:rPr>
              <a:t>Project Team :</a:t>
            </a:r>
          </a:p>
          <a:p>
            <a:r>
              <a:rPr lang="pt-PT" sz="800" dirty="0">
                <a:solidFill>
                  <a:schemeClr val="bg1"/>
                </a:solidFill>
              </a:rPr>
              <a:t>Berta </a:t>
            </a:r>
            <a:r>
              <a:rPr lang="pt-PT" sz="800" dirty="0" err="1">
                <a:solidFill>
                  <a:schemeClr val="bg1"/>
                </a:solidFill>
              </a:rPr>
              <a:t>Nieto</a:t>
            </a:r>
            <a:r>
              <a:rPr lang="pt-PT" sz="800" dirty="0">
                <a:solidFill>
                  <a:schemeClr val="bg1"/>
                </a:solidFill>
              </a:rPr>
              <a:t> Romero | Juliana Therezo | </a:t>
            </a:r>
            <a:r>
              <a:rPr lang="pt-PT" sz="800" dirty="0" err="1">
                <a:solidFill>
                  <a:schemeClr val="bg1"/>
                </a:solidFill>
              </a:rPr>
              <a:t>Sofija</a:t>
            </a:r>
            <a:r>
              <a:rPr lang="pt-PT" sz="800" dirty="0">
                <a:solidFill>
                  <a:schemeClr val="bg1"/>
                </a:solidFill>
              </a:rPr>
              <a:t> </a:t>
            </a:r>
            <a:r>
              <a:rPr lang="pt-PT" sz="800" dirty="0" err="1">
                <a:solidFill>
                  <a:schemeClr val="bg1"/>
                </a:solidFill>
              </a:rPr>
              <a:t>Šarafejeva</a:t>
            </a:r>
            <a:r>
              <a:rPr lang="pt-PT" sz="800" dirty="0">
                <a:solidFill>
                  <a:schemeClr val="bg1"/>
                </a:solidFill>
              </a:rPr>
              <a:t> | </a:t>
            </a:r>
            <a:r>
              <a:rPr lang="pt-PT" sz="800" dirty="0" err="1">
                <a:solidFill>
                  <a:schemeClr val="bg1"/>
                </a:solidFill>
              </a:rPr>
              <a:t>Yurii</a:t>
            </a:r>
            <a:r>
              <a:rPr lang="pt-PT" sz="800" dirty="0">
                <a:solidFill>
                  <a:schemeClr val="bg1"/>
                </a:solidFill>
              </a:rPr>
              <a:t> </a:t>
            </a:r>
            <a:r>
              <a:rPr lang="pt-PT" sz="800" dirty="0" err="1">
                <a:solidFill>
                  <a:schemeClr val="bg1"/>
                </a:solidFill>
              </a:rPr>
              <a:t>Slobodchukov</a:t>
            </a:r>
            <a:endParaRPr lang="pt-PT" b="1" dirty="0">
              <a:solidFill>
                <a:schemeClr val="bg1"/>
              </a:solidFill>
              <a:latin typeface="Inter" panose="020B0604020202020204" charset="0"/>
              <a:ea typeface="Inter"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grpSp>
        <p:nvGrpSpPr>
          <p:cNvPr id="74" name="Google Shape;74;p15"/>
          <p:cNvGrpSpPr/>
          <p:nvPr/>
        </p:nvGrpSpPr>
        <p:grpSpPr>
          <a:xfrm>
            <a:off x="0" y="0"/>
            <a:ext cx="9144000" cy="5143500"/>
            <a:chOff x="0" y="0"/>
            <a:chExt cx="9144000" cy="5143500"/>
          </a:xfrm>
        </p:grpSpPr>
        <p:sp>
          <p:nvSpPr>
            <p:cNvPr id="75" name="Google Shape;75;p15"/>
            <p:cNvSpPr/>
            <p:nvPr/>
          </p:nvSpPr>
          <p:spPr>
            <a:xfrm>
              <a:off x="0" y="0"/>
              <a:ext cx="9144000" cy="5143500"/>
            </a:xfrm>
            <a:prstGeom prst="rect">
              <a:avLst/>
            </a:prstGeom>
            <a:solidFill>
              <a:srgbClr val="F4F7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76" name="Google Shape;76;p15"/>
            <p:cNvGrpSpPr/>
            <p:nvPr/>
          </p:nvGrpSpPr>
          <p:grpSpPr>
            <a:xfrm>
              <a:off x="476250" y="238125"/>
              <a:ext cx="409575" cy="238200"/>
              <a:chOff x="95250" y="0"/>
              <a:chExt cx="409575" cy="238200"/>
            </a:xfrm>
          </p:grpSpPr>
          <p:sp>
            <p:nvSpPr>
              <p:cNvPr id="77" name="Google Shape;77;p15"/>
              <p:cNvSpPr/>
              <p:nvPr/>
            </p:nvSpPr>
            <p:spPr>
              <a:xfrm>
                <a:off x="95250" y="0"/>
                <a:ext cx="190500" cy="238200"/>
              </a:xfrm>
              <a:custGeom>
                <a:avLst/>
                <a:gdLst/>
                <a:ahLst/>
                <a:cxnLst/>
                <a:rect l="l" t="t" r="r" b="b"/>
                <a:pathLst>
                  <a:path w="120000" h="120000" extrusionOk="0">
                    <a:moveTo>
                      <a:pt x="0" y="96000"/>
                    </a:moveTo>
                    <a:quadBezTo>
                      <a:pt x="30000" y="24000"/>
                      <a:pt x="90000" y="0"/>
                    </a:quadBezTo>
                    <a:quadBezTo>
                      <a:pt x="60000" y="72000"/>
                      <a:pt x="120000" y="120000"/>
                    </a:quadBezTo>
                    <a:lnTo>
                      <a:pt x="0" y="120000"/>
                    </a:lnTo>
                    <a:close/>
                  </a:path>
                </a:pathLst>
              </a:cu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8" name="Google Shape;78;p15"/>
              <p:cNvSpPr/>
              <p:nvPr/>
            </p:nvSpPr>
            <p:spPr>
              <a:xfrm>
                <a:off x="333375" y="47625"/>
                <a:ext cx="38100" cy="190500"/>
              </a:xfrm>
              <a:prstGeom prst="rect">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9" name="Google Shape;79;p15"/>
              <p:cNvSpPr/>
              <p:nvPr/>
            </p:nvSpPr>
            <p:spPr>
              <a:xfrm>
                <a:off x="400050" y="114300"/>
                <a:ext cx="38100" cy="123900"/>
              </a:xfrm>
              <a:prstGeom prst="rect">
                <a:avLst/>
              </a:prstGeom>
              <a:solidFill>
                <a:srgbClr val="8DA9C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0" name="Google Shape;80;p15"/>
              <p:cNvSpPr/>
              <p:nvPr/>
            </p:nvSpPr>
            <p:spPr>
              <a:xfrm>
                <a:off x="466725" y="76200"/>
                <a:ext cx="38100" cy="162000"/>
              </a:xfrm>
              <a:prstGeom prst="rect">
                <a:avLst/>
              </a:prstGeom>
              <a:solidFill>
                <a:srgbClr val="0B254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pic>
          <p:nvPicPr>
            <p:cNvPr id="81" name="Google Shape;81;p15"/>
            <p:cNvPicPr preferRelativeResize="0"/>
            <p:nvPr/>
          </p:nvPicPr>
          <p:blipFill rotWithShape="1">
            <a:blip r:embed="rId3">
              <a:alphaModFix/>
            </a:blip>
            <a:srcRect/>
            <a:stretch/>
          </p:blipFill>
          <p:spPr>
            <a:xfrm>
              <a:off x="381000" y="709613"/>
              <a:ext cx="8382000" cy="9600"/>
            </a:xfrm>
            <a:prstGeom prst="rect">
              <a:avLst/>
            </a:prstGeom>
            <a:noFill/>
            <a:ln>
              <a:noFill/>
            </a:ln>
          </p:spPr>
        </p:pic>
        <p:pic>
          <p:nvPicPr>
            <p:cNvPr id="82" name="Google Shape;82;p15"/>
            <p:cNvPicPr preferRelativeResize="0"/>
            <p:nvPr/>
          </p:nvPicPr>
          <p:blipFill rotWithShape="1">
            <a:blip r:embed="rId4">
              <a:alphaModFix/>
            </a:blip>
            <a:srcRect/>
            <a:stretch/>
          </p:blipFill>
          <p:spPr>
            <a:xfrm>
              <a:off x="0" y="4381500"/>
              <a:ext cx="9144000" cy="762000"/>
            </a:xfrm>
            <a:prstGeom prst="rect">
              <a:avLst/>
            </a:prstGeom>
            <a:noFill/>
            <a:ln>
              <a:noFill/>
            </a:ln>
          </p:spPr>
        </p:pic>
      </p:grpSp>
      <p:sp>
        <p:nvSpPr>
          <p:cNvPr id="83" name="Google Shape;83;p15"/>
          <p:cNvSpPr txBox="1"/>
          <p:nvPr/>
        </p:nvSpPr>
        <p:spPr>
          <a:xfrm>
            <a:off x="1047750" y="238125"/>
            <a:ext cx="7715400" cy="428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1870" b="1">
                <a:solidFill>
                  <a:srgbClr val="0B2545"/>
                </a:solidFill>
                <a:latin typeface="Montserrat"/>
                <a:ea typeface="Montserrat"/>
                <a:cs typeface="Montserrat"/>
                <a:sym typeface="Montserrat"/>
              </a:rPr>
              <a:t>Overview</a:t>
            </a:r>
            <a:endParaRPr sz="1870" b="1">
              <a:solidFill>
                <a:srgbClr val="0B2545"/>
              </a:solidFill>
              <a:latin typeface="Montserrat"/>
              <a:ea typeface="Montserrat"/>
              <a:cs typeface="Montserrat"/>
              <a:sym typeface="Montserrat"/>
            </a:endParaRPr>
          </a:p>
        </p:txBody>
      </p:sp>
      <p:grpSp>
        <p:nvGrpSpPr>
          <p:cNvPr id="84" name="Google Shape;84;p15"/>
          <p:cNvGrpSpPr/>
          <p:nvPr/>
        </p:nvGrpSpPr>
        <p:grpSpPr>
          <a:xfrm>
            <a:off x="376250" y="846663"/>
            <a:ext cx="4555766" cy="3629972"/>
            <a:chOff x="-4750" y="280985"/>
            <a:chExt cx="4391100" cy="2410500"/>
          </a:xfrm>
        </p:grpSpPr>
        <p:pic>
          <p:nvPicPr>
            <p:cNvPr id="85" name="Google Shape;85;p15"/>
            <p:cNvPicPr preferRelativeResize="0"/>
            <p:nvPr/>
          </p:nvPicPr>
          <p:blipFill rotWithShape="1">
            <a:blip r:embed="rId5">
              <a:alphaModFix/>
            </a:blip>
            <a:srcRect b="-2912"/>
            <a:stretch/>
          </p:blipFill>
          <p:spPr>
            <a:xfrm>
              <a:off x="-4750" y="280985"/>
              <a:ext cx="4391100" cy="2410500"/>
            </a:xfrm>
            <a:prstGeom prst="rect">
              <a:avLst/>
            </a:prstGeom>
            <a:noFill/>
            <a:ln>
              <a:noFill/>
            </a:ln>
          </p:spPr>
        </p:pic>
        <p:grpSp>
          <p:nvGrpSpPr>
            <p:cNvPr id="86" name="Google Shape;86;p15"/>
            <p:cNvGrpSpPr/>
            <p:nvPr/>
          </p:nvGrpSpPr>
          <p:grpSpPr>
            <a:xfrm>
              <a:off x="190500" y="433252"/>
              <a:ext cx="4114792" cy="990600"/>
              <a:chOff x="0" y="4627"/>
              <a:chExt cx="4114792" cy="990600"/>
            </a:xfrm>
          </p:grpSpPr>
          <p:sp>
            <p:nvSpPr>
              <p:cNvPr id="87" name="Google Shape;87;p15"/>
              <p:cNvSpPr/>
              <p:nvPr/>
            </p:nvSpPr>
            <p:spPr>
              <a:xfrm>
                <a:off x="0" y="4634"/>
                <a:ext cx="38100" cy="152400"/>
              </a:xfrm>
              <a:prstGeom prst="rect">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8" name="Google Shape;88;p15"/>
              <p:cNvSpPr txBox="1"/>
              <p:nvPr/>
            </p:nvSpPr>
            <p:spPr>
              <a:xfrm>
                <a:off x="114292" y="4627"/>
                <a:ext cx="4000500" cy="9906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300">
                    <a:solidFill>
                      <a:srgbClr val="134074"/>
                    </a:solidFill>
                    <a:latin typeface="Montserrat SemiBold"/>
                    <a:ea typeface="Montserrat SemiBold"/>
                    <a:cs typeface="Montserrat SemiBold"/>
                    <a:sym typeface="Montserrat SemiBold"/>
                  </a:rPr>
                  <a:t>Business Case</a:t>
                </a:r>
                <a:endParaRPr sz="1300">
                  <a:solidFill>
                    <a:srgbClr val="134074"/>
                  </a:solidFill>
                  <a:latin typeface="Montserrat SemiBold"/>
                  <a:ea typeface="Montserrat SemiBold"/>
                  <a:cs typeface="Montserrat SemiBold"/>
                  <a:sym typeface="Montserrat SemiBold"/>
                </a:endParaRPr>
              </a:p>
              <a:p>
                <a:pPr marL="0" lvl="0" indent="0" algn="l" rtl="0">
                  <a:spcBef>
                    <a:spcPts val="300"/>
                  </a:spcBef>
                  <a:spcAft>
                    <a:spcPts val="0"/>
                  </a:spcAft>
                  <a:buNone/>
                </a:pPr>
                <a:endParaRPr sz="200">
                  <a:solidFill>
                    <a:srgbClr val="134074"/>
                  </a:solidFill>
                  <a:latin typeface="Montserrat SemiBold"/>
                  <a:ea typeface="Montserrat SemiBold"/>
                  <a:cs typeface="Montserrat SemiBold"/>
                  <a:sym typeface="Montserrat SemiBold"/>
                </a:endParaRPr>
              </a:p>
              <a:p>
                <a:pPr marL="0" lvl="0" indent="0" algn="l" rtl="0">
                  <a:spcBef>
                    <a:spcPts val="300"/>
                  </a:spcBef>
                  <a:spcAft>
                    <a:spcPts val="0"/>
                  </a:spcAft>
                  <a:buNone/>
                </a:pPr>
                <a:r>
                  <a:rPr lang="en-GB" sz="1050">
                    <a:solidFill>
                      <a:srgbClr val="4A6582"/>
                    </a:solidFill>
                    <a:latin typeface="Inter"/>
                    <a:ea typeface="Inter"/>
                    <a:cs typeface="Inter"/>
                    <a:sym typeface="Inter"/>
                  </a:rPr>
                  <a:t>SharkSafe </a:t>
                </a:r>
                <a:r>
                  <a:rPr lang="en-GB" sz="1050" b="1">
                    <a:solidFill>
                      <a:schemeClr val="accent5"/>
                    </a:solidFill>
                    <a:latin typeface="Inter"/>
                    <a:ea typeface="Inter"/>
                    <a:cs typeface="Inter"/>
                    <a:sym typeface="Inter"/>
                  </a:rPr>
                  <a:t>organizes ocean recreation experiences</a:t>
                </a:r>
                <a:r>
                  <a:rPr lang="en-GB" sz="1050">
                    <a:solidFill>
                      <a:schemeClr val="accent5"/>
                    </a:solidFill>
                    <a:latin typeface="Inter"/>
                    <a:ea typeface="Inter"/>
                    <a:cs typeface="Inter"/>
                    <a:sym typeface="Inter"/>
                  </a:rPr>
                  <a:t> </a:t>
                </a:r>
                <a:r>
                  <a:rPr lang="en-GB" sz="1050">
                    <a:solidFill>
                      <a:srgbClr val="4A6582"/>
                    </a:solidFill>
                    <a:latin typeface="Inter"/>
                    <a:ea typeface="Inter"/>
                    <a:cs typeface="Inter"/>
                    <a:sym typeface="Inter"/>
                  </a:rPr>
                  <a:t>such as surfing, scuba diving, and shark-watching tours. </a:t>
                </a:r>
                <a:endParaRPr sz="1050">
                  <a:solidFill>
                    <a:srgbClr val="4A6582"/>
                  </a:solidFill>
                  <a:latin typeface="Inter"/>
                  <a:ea typeface="Inter"/>
                  <a:cs typeface="Inter"/>
                  <a:sym typeface="Inter"/>
                </a:endParaRPr>
              </a:p>
              <a:p>
                <a:pPr marL="0" lvl="0" indent="0" algn="l" rtl="0">
                  <a:spcBef>
                    <a:spcPts val="300"/>
                  </a:spcBef>
                  <a:spcAft>
                    <a:spcPts val="0"/>
                  </a:spcAft>
                  <a:buNone/>
                </a:pPr>
                <a:endParaRPr sz="200">
                  <a:solidFill>
                    <a:srgbClr val="4A6582"/>
                  </a:solidFill>
                  <a:latin typeface="Inter"/>
                  <a:ea typeface="Inter"/>
                  <a:cs typeface="Inter"/>
                  <a:sym typeface="Inter"/>
                </a:endParaRPr>
              </a:p>
              <a:p>
                <a:pPr marL="0" lvl="0" indent="0" algn="l" rtl="0">
                  <a:spcBef>
                    <a:spcPts val="300"/>
                  </a:spcBef>
                  <a:spcAft>
                    <a:spcPts val="0"/>
                  </a:spcAft>
                  <a:buNone/>
                </a:pPr>
                <a:r>
                  <a:rPr lang="en-GB" sz="1050">
                    <a:solidFill>
                      <a:srgbClr val="4A6582"/>
                    </a:solidFill>
                    <a:latin typeface="Inter"/>
                    <a:ea typeface="Inter"/>
                    <a:cs typeface="Inter"/>
                    <a:sym typeface="Inter"/>
                  </a:rPr>
                  <a:t>The company wants to </a:t>
                </a:r>
                <a:r>
                  <a:rPr lang="en-GB" sz="1050" b="1">
                    <a:solidFill>
                      <a:schemeClr val="accent5"/>
                    </a:solidFill>
                    <a:latin typeface="Inter"/>
                    <a:ea typeface="Inter"/>
                    <a:cs typeface="Inter"/>
                    <a:sym typeface="Inter"/>
                  </a:rPr>
                  <a:t>develop a more data-informed product and safety strategy</a:t>
                </a:r>
                <a:r>
                  <a:rPr lang="en-GB" sz="1050">
                    <a:solidFill>
                      <a:srgbClr val="4A6582"/>
                    </a:solidFill>
                    <a:latin typeface="Inter"/>
                    <a:ea typeface="Inter"/>
                    <a:cs typeface="Inter"/>
                    <a:sym typeface="Inter"/>
                  </a:rPr>
                  <a:t> by understanding how recorded shark incidents vary across destinations, activities, seasons, and time periods.</a:t>
                </a:r>
                <a:endParaRPr sz="1050">
                  <a:solidFill>
                    <a:srgbClr val="4A6582"/>
                  </a:solidFill>
                  <a:latin typeface="Inter"/>
                  <a:ea typeface="Inter"/>
                  <a:cs typeface="Inter"/>
                  <a:sym typeface="Inter"/>
                </a:endParaRPr>
              </a:p>
              <a:p>
                <a:pPr marL="0" lvl="0" indent="0" algn="l" rtl="0">
                  <a:spcBef>
                    <a:spcPts val="300"/>
                  </a:spcBef>
                  <a:spcAft>
                    <a:spcPts val="0"/>
                  </a:spcAft>
                  <a:buNone/>
                </a:pPr>
                <a:endParaRPr sz="1050">
                  <a:solidFill>
                    <a:srgbClr val="4A6582"/>
                  </a:solidFill>
                  <a:latin typeface="Inter"/>
                  <a:ea typeface="Inter"/>
                  <a:cs typeface="Inter"/>
                  <a:sym typeface="Inter"/>
                </a:endParaRPr>
              </a:p>
              <a:p>
                <a:pPr marL="0" lvl="0" indent="0" algn="l" rtl="0">
                  <a:spcBef>
                    <a:spcPts val="300"/>
                  </a:spcBef>
                  <a:spcAft>
                    <a:spcPts val="300"/>
                  </a:spcAft>
                  <a:buNone/>
                </a:pPr>
                <a:endParaRPr sz="1050">
                  <a:solidFill>
                    <a:srgbClr val="4A6582"/>
                  </a:solidFill>
                  <a:latin typeface="Inter"/>
                  <a:ea typeface="Inter"/>
                  <a:cs typeface="Inter"/>
                  <a:sym typeface="Inter"/>
                </a:endParaRPr>
              </a:p>
            </p:txBody>
          </p:sp>
        </p:grpSp>
        <p:pic>
          <p:nvPicPr>
            <p:cNvPr id="89" name="Google Shape;89;p15"/>
            <p:cNvPicPr preferRelativeResize="0"/>
            <p:nvPr/>
          </p:nvPicPr>
          <p:blipFill rotWithShape="1">
            <a:blip r:embed="rId6">
              <a:alphaModFix/>
            </a:blip>
            <a:srcRect/>
            <a:stretch/>
          </p:blipFill>
          <p:spPr>
            <a:xfrm>
              <a:off x="190500" y="1435797"/>
              <a:ext cx="4000500" cy="9600"/>
            </a:xfrm>
            <a:prstGeom prst="rect">
              <a:avLst/>
            </a:prstGeom>
            <a:noFill/>
            <a:ln>
              <a:noFill/>
            </a:ln>
          </p:spPr>
        </p:pic>
        <p:grpSp>
          <p:nvGrpSpPr>
            <p:cNvPr id="90" name="Google Shape;90;p15"/>
            <p:cNvGrpSpPr/>
            <p:nvPr/>
          </p:nvGrpSpPr>
          <p:grpSpPr>
            <a:xfrm>
              <a:off x="190500" y="1506723"/>
              <a:ext cx="4000492" cy="1062492"/>
              <a:chOff x="0" y="77973"/>
              <a:chExt cx="4000492" cy="1062492"/>
            </a:xfrm>
          </p:grpSpPr>
          <p:sp>
            <p:nvSpPr>
              <p:cNvPr id="91" name="Google Shape;91;p15"/>
              <p:cNvSpPr/>
              <p:nvPr/>
            </p:nvSpPr>
            <p:spPr>
              <a:xfrm>
                <a:off x="0" y="77973"/>
                <a:ext cx="38100" cy="152400"/>
              </a:xfrm>
              <a:prstGeom prst="rect">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2" name="Google Shape;92;p15"/>
              <p:cNvSpPr txBox="1"/>
              <p:nvPr/>
            </p:nvSpPr>
            <p:spPr>
              <a:xfrm>
                <a:off x="114292" y="78464"/>
                <a:ext cx="3886200" cy="1062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300">
                    <a:solidFill>
                      <a:srgbClr val="134074"/>
                    </a:solidFill>
                    <a:latin typeface="Montserrat SemiBold"/>
                    <a:ea typeface="Montserrat SemiBold"/>
                    <a:cs typeface="Montserrat SemiBold"/>
                    <a:sym typeface="Montserrat SemiBold"/>
                  </a:rPr>
                  <a:t>Core Objective</a:t>
                </a:r>
                <a:endParaRPr sz="1300" b="0" i="0">
                  <a:solidFill>
                    <a:srgbClr val="134074"/>
                  </a:solidFill>
                  <a:latin typeface="Montserrat SemiBold"/>
                  <a:ea typeface="Montserrat SemiBold"/>
                  <a:cs typeface="Montserrat SemiBold"/>
                  <a:sym typeface="Montserrat SemiBold"/>
                </a:endParaRPr>
              </a:p>
              <a:p>
                <a:pPr marL="0" lvl="0" indent="0" algn="l" rtl="0">
                  <a:spcBef>
                    <a:spcPts val="300"/>
                  </a:spcBef>
                  <a:spcAft>
                    <a:spcPts val="0"/>
                  </a:spcAft>
                  <a:buNone/>
                </a:pPr>
                <a:r>
                  <a:rPr lang="en-GB" sz="1050">
                    <a:solidFill>
                      <a:srgbClr val="4A6582"/>
                    </a:solidFill>
                    <a:latin typeface="Inter"/>
                    <a:ea typeface="Inter"/>
                    <a:cs typeface="Inter"/>
                    <a:sym typeface="Inter"/>
                  </a:rPr>
                  <a:t>Identify patterns that could help the company make better decisions about:</a:t>
                </a:r>
                <a:endParaRPr sz="1050">
                  <a:solidFill>
                    <a:srgbClr val="4A6582"/>
                  </a:solidFill>
                  <a:latin typeface="Inter"/>
                  <a:ea typeface="Inter"/>
                  <a:cs typeface="Inter"/>
                  <a:sym typeface="Inter"/>
                </a:endParaRPr>
              </a:p>
              <a:p>
                <a:pPr marL="0" lvl="0" indent="0" algn="l" rtl="0">
                  <a:spcBef>
                    <a:spcPts val="300"/>
                  </a:spcBef>
                  <a:spcAft>
                    <a:spcPts val="0"/>
                  </a:spcAft>
                  <a:buNone/>
                </a:pPr>
                <a:endParaRPr sz="100">
                  <a:solidFill>
                    <a:srgbClr val="4A6582"/>
                  </a:solidFill>
                  <a:latin typeface="Inter"/>
                  <a:ea typeface="Inter"/>
                  <a:cs typeface="Inter"/>
                  <a:sym typeface="Inter"/>
                </a:endParaRPr>
              </a:p>
              <a:p>
                <a:pPr marL="0" marR="0" lvl="0" indent="0" algn="l" rtl="0">
                  <a:lnSpc>
                    <a:spcPct val="100000"/>
                  </a:lnSpc>
                  <a:spcBef>
                    <a:spcPts val="300"/>
                  </a:spcBef>
                  <a:spcAft>
                    <a:spcPts val="0"/>
                  </a:spcAft>
                  <a:buNone/>
                </a:pPr>
                <a:r>
                  <a:rPr lang="en-GB" sz="1100">
                    <a:solidFill>
                      <a:schemeClr val="dk1"/>
                    </a:solidFill>
                    <a:latin typeface="Inter"/>
                    <a:ea typeface="Inter"/>
                    <a:cs typeface="Inter"/>
                    <a:sym typeface="Inter"/>
                  </a:rPr>
                  <a:t>🌍 </a:t>
                </a:r>
                <a:r>
                  <a:rPr lang="en-GB" sz="1050">
                    <a:solidFill>
                      <a:srgbClr val="4A6582"/>
                    </a:solidFill>
                    <a:latin typeface="Inter"/>
                    <a:ea typeface="Inter"/>
                    <a:cs typeface="Inter"/>
                    <a:sym typeface="Inter"/>
                  </a:rPr>
                  <a:t>Destinations</a:t>
                </a:r>
                <a:endParaRPr sz="1050">
                  <a:solidFill>
                    <a:srgbClr val="4A6582"/>
                  </a:solidFill>
                  <a:latin typeface="Inter"/>
                  <a:ea typeface="Inter"/>
                  <a:cs typeface="Inter"/>
                  <a:sym typeface="Inter"/>
                </a:endParaRPr>
              </a:p>
              <a:p>
                <a:pPr marL="0" marR="0" lvl="0" indent="0" algn="l" rtl="0">
                  <a:lnSpc>
                    <a:spcPct val="100000"/>
                  </a:lnSpc>
                  <a:spcBef>
                    <a:spcPts val="300"/>
                  </a:spcBef>
                  <a:spcAft>
                    <a:spcPts val="0"/>
                  </a:spcAft>
                  <a:buNone/>
                </a:pPr>
                <a:r>
                  <a:rPr lang="en-GB" sz="1050">
                    <a:solidFill>
                      <a:srgbClr val="4A6582"/>
                    </a:solidFill>
                    <a:latin typeface="Inter"/>
                    <a:ea typeface="Inter"/>
                    <a:cs typeface="Inter"/>
                    <a:sym typeface="Inter"/>
                  </a:rPr>
                  <a:t>🏄 Marine activities</a:t>
                </a:r>
                <a:endParaRPr sz="1050">
                  <a:solidFill>
                    <a:srgbClr val="4A6582"/>
                  </a:solidFill>
                  <a:latin typeface="Inter"/>
                  <a:ea typeface="Inter"/>
                  <a:cs typeface="Inter"/>
                  <a:sym typeface="Inter"/>
                </a:endParaRPr>
              </a:p>
              <a:p>
                <a:pPr marL="0" marR="0" lvl="0" indent="0" algn="l" rtl="0">
                  <a:lnSpc>
                    <a:spcPct val="100000"/>
                  </a:lnSpc>
                  <a:spcBef>
                    <a:spcPts val="300"/>
                  </a:spcBef>
                  <a:spcAft>
                    <a:spcPts val="0"/>
                  </a:spcAft>
                  <a:buNone/>
                </a:pPr>
                <a:r>
                  <a:rPr lang="en-GB" sz="1050">
                    <a:solidFill>
                      <a:srgbClr val="4A6582"/>
                    </a:solidFill>
                    <a:latin typeface="Inter"/>
                    <a:ea typeface="Inter"/>
                    <a:cs typeface="Inter"/>
                    <a:sym typeface="Inter"/>
                  </a:rPr>
                  <a:t>🦈 Shark-watching locations</a:t>
                </a:r>
                <a:endParaRPr sz="1050">
                  <a:solidFill>
                    <a:srgbClr val="4A6582"/>
                  </a:solidFill>
                  <a:latin typeface="Inter"/>
                  <a:ea typeface="Inter"/>
                  <a:cs typeface="Inter"/>
                  <a:sym typeface="Inter"/>
                </a:endParaRPr>
              </a:p>
              <a:p>
                <a:pPr marL="0" marR="0" lvl="0" indent="0" algn="l" rtl="0">
                  <a:lnSpc>
                    <a:spcPct val="100000"/>
                  </a:lnSpc>
                  <a:spcBef>
                    <a:spcPts val="300"/>
                  </a:spcBef>
                  <a:spcAft>
                    <a:spcPts val="0"/>
                  </a:spcAft>
                  <a:buNone/>
                </a:pPr>
                <a:r>
                  <a:rPr lang="en-GB" sz="1050">
                    <a:solidFill>
                      <a:srgbClr val="4A6582"/>
                    </a:solidFill>
                    <a:latin typeface="Inter"/>
                    <a:ea typeface="Inter"/>
                    <a:cs typeface="Inter"/>
                    <a:sym typeface="Inter"/>
                  </a:rPr>
                  <a:t>📅 Tour scheduling</a:t>
                </a:r>
                <a:endParaRPr sz="1050">
                  <a:solidFill>
                    <a:srgbClr val="4A6582"/>
                  </a:solidFill>
                  <a:latin typeface="Inter"/>
                  <a:ea typeface="Inter"/>
                  <a:cs typeface="Inter"/>
                  <a:sym typeface="Inter"/>
                </a:endParaRPr>
              </a:p>
              <a:p>
                <a:pPr marL="0" marR="0" lvl="0" indent="0" algn="l" rtl="0">
                  <a:lnSpc>
                    <a:spcPct val="100000"/>
                  </a:lnSpc>
                  <a:spcBef>
                    <a:spcPts val="300"/>
                  </a:spcBef>
                  <a:spcAft>
                    <a:spcPts val="300"/>
                  </a:spcAft>
                  <a:buNone/>
                </a:pPr>
                <a:r>
                  <a:rPr lang="en-GB" sz="1050">
                    <a:solidFill>
                      <a:srgbClr val="4A6582"/>
                    </a:solidFill>
                    <a:latin typeface="Inter"/>
                    <a:ea typeface="Inter"/>
                    <a:cs typeface="Inter"/>
                    <a:sym typeface="Inter"/>
                  </a:rPr>
                  <a:t>🛟 Customer safety communication</a:t>
                </a:r>
                <a:endParaRPr sz="1050">
                  <a:solidFill>
                    <a:srgbClr val="4A6582"/>
                  </a:solidFill>
                  <a:latin typeface="Inter"/>
                  <a:ea typeface="Inter"/>
                  <a:cs typeface="Inter"/>
                  <a:sym typeface="Inter"/>
                </a:endParaRPr>
              </a:p>
            </p:txBody>
          </p:sp>
        </p:grpSp>
      </p:grpSp>
      <p:sp>
        <p:nvSpPr>
          <p:cNvPr id="93" name="Google Shape;93;p15"/>
          <p:cNvSpPr txBox="1"/>
          <p:nvPr/>
        </p:nvSpPr>
        <p:spPr>
          <a:xfrm>
            <a:off x="656150" y="4538600"/>
            <a:ext cx="7634400" cy="361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1150" b="1">
                <a:solidFill>
                  <a:srgbClr val="122234"/>
                </a:solidFill>
              </a:rPr>
              <a:t>From </a:t>
            </a:r>
            <a:r>
              <a:rPr lang="en-GB" sz="1150" b="1">
                <a:solidFill>
                  <a:schemeClr val="accent5"/>
                </a:solidFill>
              </a:rPr>
              <a:t>historical incident data</a:t>
            </a:r>
            <a:r>
              <a:rPr lang="en-GB" sz="1150" b="1">
                <a:solidFill>
                  <a:srgbClr val="122234"/>
                </a:solidFill>
              </a:rPr>
              <a:t> → </a:t>
            </a:r>
            <a:r>
              <a:rPr lang="en-GB" sz="1150" b="1">
                <a:solidFill>
                  <a:schemeClr val="accent5"/>
                </a:solidFill>
              </a:rPr>
              <a:t>practical insights</a:t>
            </a:r>
            <a:r>
              <a:rPr lang="en-GB" sz="1150" b="1">
                <a:solidFill>
                  <a:srgbClr val="122234"/>
                </a:solidFill>
              </a:rPr>
              <a:t> for safer, better-informed marine tourism decisions</a:t>
            </a:r>
            <a:endParaRPr sz="1150" b="1">
              <a:solidFill>
                <a:srgbClr val="122234"/>
              </a:solidFill>
            </a:endParaRPr>
          </a:p>
        </p:txBody>
      </p:sp>
      <p:pic>
        <p:nvPicPr>
          <p:cNvPr id="94" name="Google Shape;94;p15"/>
          <p:cNvPicPr preferRelativeResize="0"/>
          <p:nvPr/>
        </p:nvPicPr>
        <p:blipFill>
          <a:blip r:embed="rId7">
            <a:alphaModFix/>
          </a:blip>
          <a:stretch>
            <a:fillRect/>
          </a:stretch>
        </p:blipFill>
        <p:spPr>
          <a:xfrm>
            <a:off x="5267846" y="1317654"/>
            <a:ext cx="3124726" cy="3063325"/>
          </a:xfrm>
          <a:prstGeom prst="rect">
            <a:avLst/>
          </a:prstGeom>
          <a:solidFill>
            <a:srgbClr val="F4F7F9"/>
          </a:solidFill>
          <a:ln>
            <a:noFill/>
          </a:ln>
        </p:spPr>
      </p:pic>
      <p:grpSp>
        <p:nvGrpSpPr>
          <p:cNvPr id="95" name="Google Shape;95;p15"/>
          <p:cNvGrpSpPr/>
          <p:nvPr/>
        </p:nvGrpSpPr>
        <p:grpSpPr>
          <a:xfrm>
            <a:off x="5369983" y="924983"/>
            <a:ext cx="190500" cy="209700"/>
            <a:chOff x="5676900" y="924983"/>
            <a:chExt cx="190500" cy="209700"/>
          </a:xfrm>
        </p:grpSpPr>
        <p:grpSp>
          <p:nvGrpSpPr>
            <p:cNvPr id="96" name="Google Shape;96;p15"/>
            <p:cNvGrpSpPr/>
            <p:nvPr/>
          </p:nvGrpSpPr>
          <p:grpSpPr>
            <a:xfrm>
              <a:off x="5676900" y="924983"/>
              <a:ext cx="190500" cy="209700"/>
              <a:chOff x="19050" y="19050"/>
              <a:chExt cx="190500" cy="209700"/>
            </a:xfrm>
          </p:grpSpPr>
          <p:sp>
            <p:nvSpPr>
              <p:cNvPr id="97" name="Google Shape;97;p15"/>
              <p:cNvSpPr/>
              <p:nvPr/>
            </p:nvSpPr>
            <p:spPr>
              <a:xfrm>
                <a:off x="95250" y="76200"/>
                <a:ext cx="38100" cy="152400"/>
              </a:xfrm>
              <a:prstGeom prst="rect">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8" name="Google Shape;98;p15"/>
              <p:cNvSpPr/>
              <p:nvPr/>
            </p:nvSpPr>
            <p:spPr>
              <a:xfrm>
                <a:off x="152400" y="19050"/>
                <a:ext cx="38100" cy="209700"/>
              </a:xfrm>
              <a:prstGeom prst="rect">
                <a:avLst/>
              </a:prstGeom>
              <a:solidFill>
                <a:srgbClr val="8DA9C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9" name="Google Shape;99;p15"/>
              <p:cNvSpPr/>
              <p:nvPr/>
            </p:nvSpPr>
            <p:spPr>
              <a:xfrm>
                <a:off x="19050" y="228600"/>
                <a:ext cx="190500" cy="0"/>
              </a:xfrm>
              <a:custGeom>
                <a:avLst/>
                <a:gdLst/>
                <a:ahLst/>
                <a:cxnLst/>
                <a:rect l="l" t="t" r="r" b="b"/>
                <a:pathLst>
                  <a:path w="120000" h="120000" fill="none" extrusionOk="0">
                    <a:moveTo>
                      <a:pt x="0" y="0"/>
                    </a:moveTo>
                    <a:lnTo>
                      <a:pt x="120000" y="0"/>
                    </a:lnTo>
                  </a:path>
                </a:pathLst>
              </a:custGeom>
              <a:solidFill>
                <a:srgbClr val="FFFFFF"/>
              </a:solidFill>
              <a:ln w="19050" cap="flat" cmpd="sng">
                <a:solidFill>
                  <a:srgbClr val="0B25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00" name="Google Shape;100;p15"/>
            <p:cNvSpPr/>
            <p:nvPr/>
          </p:nvSpPr>
          <p:spPr>
            <a:xfrm>
              <a:off x="5695950" y="1047750"/>
              <a:ext cx="38100" cy="76200"/>
            </a:xfrm>
            <a:prstGeom prst="rect">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01" name="Google Shape;101;p15"/>
          <p:cNvSpPr txBox="1"/>
          <p:nvPr/>
        </p:nvSpPr>
        <p:spPr>
          <a:xfrm>
            <a:off x="5645013" y="924975"/>
            <a:ext cx="2243400" cy="260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1100" b="1">
                <a:solidFill>
                  <a:schemeClr val="accent5"/>
                </a:solidFill>
                <a:latin typeface="Inter"/>
                <a:ea typeface="Inter"/>
                <a:cs typeface="Inter"/>
                <a:sym typeface="Inter"/>
              </a:rPr>
              <a:t>Data for analysis </a:t>
            </a:r>
            <a:endParaRPr sz="1100">
              <a:solidFill>
                <a:srgbClr val="4A6582"/>
              </a:solidFill>
              <a:latin typeface="Inter"/>
              <a:ea typeface="Inter"/>
              <a:cs typeface="Inter"/>
              <a:sym typeface="Inter"/>
            </a:endParaRPr>
          </a:p>
        </p:txBody>
      </p:sp>
      <p:pic>
        <p:nvPicPr>
          <p:cNvPr id="102" name="Google Shape;102;p15"/>
          <p:cNvPicPr preferRelativeResize="0"/>
          <p:nvPr/>
        </p:nvPicPr>
        <p:blipFill rotWithShape="1">
          <a:blip r:embed="rId8">
            <a:alphaModFix/>
          </a:blip>
          <a:srcRect/>
          <a:stretch/>
        </p:blipFill>
        <p:spPr>
          <a:xfrm>
            <a:off x="7313075" y="846675"/>
            <a:ext cx="1492500" cy="1119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grpSp>
        <p:nvGrpSpPr>
          <p:cNvPr id="107" name="Google Shape;107;p16"/>
          <p:cNvGrpSpPr/>
          <p:nvPr/>
        </p:nvGrpSpPr>
        <p:grpSpPr>
          <a:xfrm>
            <a:off x="0" y="0"/>
            <a:ext cx="9144000" cy="5143500"/>
            <a:chOff x="0" y="0"/>
            <a:chExt cx="9144000" cy="5143500"/>
          </a:xfrm>
        </p:grpSpPr>
        <p:sp>
          <p:nvSpPr>
            <p:cNvPr id="108" name="Google Shape;108;p16"/>
            <p:cNvSpPr/>
            <p:nvPr/>
          </p:nvSpPr>
          <p:spPr>
            <a:xfrm>
              <a:off x="0" y="0"/>
              <a:ext cx="9144000" cy="5143500"/>
            </a:xfrm>
            <a:prstGeom prst="rect">
              <a:avLst/>
            </a:prstGeom>
            <a:solidFill>
              <a:srgbClr val="F4F7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09" name="Google Shape;109;p16"/>
            <p:cNvGrpSpPr/>
            <p:nvPr/>
          </p:nvGrpSpPr>
          <p:grpSpPr>
            <a:xfrm>
              <a:off x="476250" y="238125"/>
              <a:ext cx="409575" cy="238200"/>
              <a:chOff x="95250" y="0"/>
              <a:chExt cx="409575" cy="238200"/>
            </a:xfrm>
          </p:grpSpPr>
          <p:sp>
            <p:nvSpPr>
              <p:cNvPr id="110" name="Google Shape;110;p16"/>
              <p:cNvSpPr/>
              <p:nvPr/>
            </p:nvSpPr>
            <p:spPr>
              <a:xfrm>
                <a:off x="95250" y="0"/>
                <a:ext cx="190500" cy="238200"/>
              </a:xfrm>
              <a:custGeom>
                <a:avLst/>
                <a:gdLst/>
                <a:ahLst/>
                <a:cxnLst/>
                <a:rect l="l" t="t" r="r" b="b"/>
                <a:pathLst>
                  <a:path w="120000" h="120000" extrusionOk="0">
                    <a:moveTo>
                      <a:pt x="0" y="96000"/>
                    </a:moveTo>
                    <a:quadBezTo>
                      <a:pt x="30000" y="24000"/>
                      <a:pt x="90000" y="0"/>
                    </a:quadBezTo>
                    <a:quadBezTo>
                      <a:pt x="60000" y="72000"/>
                      <a:pt x="120000" y="120000"/>
                    </a:quadBezTo>
                    <a:lnTo>
                      <a:pt x="0" y="120000"/>
                    </a:lnTo>
                    <a:close/>
                  </a:path>
                </a:pathLst>
              </a:cu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1" name="Google Shape;111;p16"/>
              <p:cNvSpPr/>
              <p:nvPr/>
            </p:nvSpPr>
            <p:spPr>
              <a:xfrm>
                <a:off x="333375" y="47625"/>
                <a:ext cx="38100" cy="190500"/>
              </a:xfrm>
              <a:prstGeom prst="rect">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2" name="Google Shape;112;p16"/>
              <p:cNvSpPr/>
              <p:nvPr/>
            </p:nvSpPr>
            <p:spPr>
              <a:xfrm>
                <a:off x="400050" y="114300"/>
                <a:ext cx="38100" cy="123900"/>
              </a:xfrm>
              <a:prstGeom prst="rect">
                <a:avLst/>
              </a:prstGeom>
              <a:solidFill>
                <a:srgbClr val="8DA9C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3" name="Google Shape;113;p16"/>
              <p:cNvSpPr/>
              <p:nvPr/>
            </p:nvSpPr>
            <p:spPr>
              <a:xfrm>
                <a:off x="466725" y="76200"/>
                <a:ext cx="38100" cy="162000"/>
              </a:xfrm>
              <a:prstGeom prst="rect">
                <a:avLst/>
              </a:prstGeom>
              <a:solidFill>
                <a:srgbClr val="0B254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pic>
          <p:nvPicPr>
            <p:cNvPr id="114" name="Google Shape;114;p16"/>
            <p:cNvPicPr preferRelativeResize="0"/>
            <p:nvPr/>
          </p:nvPicPr>
          <p:blipFill rotWithShape="1">
            <a:blip r:embed="rId3">
              <a:alphaModFix/>
            </a:blip>
            <a:srcRect/>
            <a:stretch/>
          </p:blipFill>
          <p:spPr>
            <a:xfrm>
              <a:off x="381000" y="709613"/>
              <a:ext cx="8382000" cy="9600"/>
            </a:xfrm>
            <a:prstGeom prst="rect">
              <a:avLst/>
            </a:prstGeom>
            <a:noFill/>
            <a:ln>
              <a:noFill/>
            </a:ln>
          </p:spPr>
        </p:pic>
        <p:pic>
          <p:nvPicPr>
            <p:cNvPr id="115" name="Google Shape;115;p16"/>
            <p:cNvPicPr preferRelativeResize="0"/>
            <p:nvPr/>
          </p:nvPicPr>
          <p:blipFill rotWithShape="1">
            <a:blip r:embed="rId4">
              <a:alphaModFix/>
            </a:blip>
            <a:srcRect/>
            <a:stretch/>
          </p:blipFill>
          <p:spPr>
            <a:xfrm>
              <a:off x="0" y="4381500"/>
              <a:ext cx="9144000" cy="762000"/>
            </a:xfrm>
            <a:prstGeom prst="rect">
              <a:avLst/>
            </a:prstGeom>
            <a:noFill/>
            <a:ln>
              <a:noFill/>
            </a:ln>
          </p:spPr>
        </p:pic>
      </p:grpSp>
      <p:sp>
        <p:nvSpPr>
          <p:cNvPr id="116" name="Google Shape;116;p16"/>
          <p:cNvSpPr txBox="1"/>
          <p:nvPr/>
        </p:nvSpPr>
        <p:spPr>
          <a:xfrm>
            <a:off x="1047750" y="238125"/>
            <a:ext cx="7715400" cy="428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1870" b="1">
                <a:solidFill>
                  <a:srgbClr val="0B2545"/>
                </a:solidFill>
                <a:latin typeface="Montserrat"/>
                <a:ea typeface="Montserrat"/>
                <a:cs typeface="Montserrat"/>
                <a:sym typeface="Montserrat"/>
              </a:rPr>
              <a:t>Data Cleaning Approach </a:t>
            </a:r>
            <a:endParaRPr sz="1870" b="1" i="0" u="none" strike="noStrike">
              <a:solidFill>
                <a:srgbClr val="0B2545"/>
              </a:solidFill>
              <a:latin typeface="Montserrat"/>
              <a:ea typeface="Montserrat"/>
              <a:cs typeface="Montserrat"/>
              <a:sym typeface="Montserrat"/>
            </a:endParaRPr>
          </a:p>
        </p:txBody>
      </p:sp>
      <p:sp>
        <p:nvSpPr>
          <p:cNvPr id="117" name="Google Shape;117;p16"/>
          <p:cNvSpPr txBox="1"/>
          <p:nvPr/>
        </p:nvSpPr>
        <p:spPr>
          <a:xfrm>
            <a:off x="216900" y="941925"/>
            <a:ext cx="8710200" cy="74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800" b="1">
                <a:solidFill>
                  <a:srgbClr val="0C2B53"/>
                </a:solidFill>
              </a:rPr>
              <a:t>Preparing the historical shark incident dataset for reliable analysis</a:t>
            </a:r>
            <a:endParaRPr sz="1800" b="1">
              <a:solidFill>
                <a:srgbClr val="0C2B53"/>
              </a:solidFill>
            </a:endParaRPr>
          </a:p>
          <a:p>
            <a:pPr marL="0" lvl="0" indent="0" algn="l" rtl="0">
              <a:lnSpc>
                <a:spcPct val="115000"/>
              </a:lnSpc>
              <a:spcBef>
                <a:spcPts val="500"/>
              </a:spcBef>
              <a:spcAft>
                <a:spcPts val="0"/>
              </a:spcAft>
              <a:buNone/>
            </a:pPr>
            <a:r>
              <a:rPr lang="en-GB" sz="1150">
                <a:solidFill>
                  <a:srgbClr val="374252"/>
                </a:solidFill>
              </a:rPr>
              <a:t>The raw dataset was cleaned, standardized and transformed before testing the project hypotheses.</a:t>
            </a:r>
            <a:endParaRPr sz="1050">
              <a:solidFill>
                <a:srgbClr val="202020"/>
              </a:solidFill>
              <a:highlight>
                <a:srgbClr val="FFFFFF"/>
              </a:highlight>
              <a:latin typeface="Courier New"/>
              <a:ea typeface="Courier New"/>
              <a:cs typeface="Courier New"/>
              <a:sym typeface="Courier New"/>
            </a:endParaRPr>
          </a:p>
        </p:txBody>
      </p:sp>
      <p:sp>
        <p:nvSpPr>
          <p:cNvPr id="118" name="Google Shape;118;p16"/>
          <p:cNvSpPr/>
          <p:nvPr/>
        </p:nvSpPr>
        <p:spPr>
          <a:xfrm>
            <a:off x="285758" y="1960929"/>
            <a:ext cx="1672200" cy="2074200"/>
          </a:xfrm>
          <a:prstGeom prst="roundRect">
            <a:avLst>
              <a:gd name="adj" fmla="val 16667"/>
            </a:avLst>
          </a:prstGeom>
          <a:solidFill>
            <a:schemeClr val="l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9" name="Google Shape;119;p16"/>
          <p:cNvPicPr preferRelativeResize="0"/>
          <p:nvPr/>
        </p:nvPicPr>
        <p:blipFill>
          <a:blip r:embed="rId5">
            <a:alphaModFix/>
          </a:blip>
          <a:stretch>
            <a:fillRect/>
          </a:stretch>
        </p:blipFill>
        <p:spPr>
          <a:xfrm>
            <a:off x="802117" y="1983315"/>
            <a:ext cx="577850" cy="577850"/>
          </a:xfrm>
          <a:prstGeom prst="rect">
            <a:avLst/>
          </a:prstGeom>
          <a:solidFill>
            <a:schemeClr val="lt1"/>
          </a:solidFill>
          <a:ln>
            <a:noFill/>
          </a:ln>
        </p:spPr>
      </p:pic>
      <p:sp>
        <p:nvSpPr>
          <p:cNvPr id="120" name="Google Shape;120;p16"/>
          <p:cNvSpPr txBox="1"/>
          <p:nvPr/>
        </p:nvSpPr>
        <p:spPr>
          <a:xfrm>
            <a:off x="275100" y="2595442"/>
            <a:ext cx="1672200" cy="1320300"/>
          </a:xfrm>
          <a:prstGeom prst="rect">
            <a:avLst/>
          </a:prstGeom>
          <a:solidFill>
            <a:srgbClr val="000000">
              <a:alpha val="0"/>
            </a:srgbClr>
          </a:solidFill>
          <a:ln>
            <a:noFill/>
          </a:ln>
        </p:spPr>
        <p:txBody>
          <a:bodyPr spcFirstLastPara="1" wrap="square" lIns="0" tIns="0" rIns="0" bIns="0" anchor="b" anchorCtr="0">
            <a:noAutofit/>
          </a:bodyPr>
          <a:lstStyle/>
          <a:p>
            <a:pPr marL="0" lvl="0" indent="0" algn="ctr" rtl="0">
              <a:spcBef>
                <a:spcPts val="0"/>
              </a:spcBef>
              <a:spcAft>
                <a:spcPts val="0"/>
              </a:spcAft>
              <a:buNone/>
            </a:pPr>
            <a:r>
              <a:rPr lang="en-GB" sz="1000">
                <a:solidFill>
                  <a:srgbClr val="0B2545"/>
                </a:solidFill>
                <a:latin typeface="Montserrat SemiBold"/>
                <a:ea typeface="Montserrat SemiBold"/>
                <a:cs typeface="Montserrat SemiBold"/>
                <a:sym typeface="Montserrat SemiBold"/>
              </a:rPr>
              <a:t>Data structure</a:t>
            </a:r>
            <a:endParaRPr sz="1000">
              <a:solidFill>
                <a:srgbClr val="0B2545"/>
              </a:solidFill>
              <a:latin typeface="Montserrat SemiBold"/>
              <a:ea typeface="Montserrat SemiBold"/>
              <a:cs typeface="Montserrat SemiBold"/>
              <a:sym typeface="Montserrat SemiBold"/>
            </a:endParaRPr>
          </a:p>
          <a:p>
            <a:pPr marL="0" lvl="0" indent="0" algn="ctr" rtl="0">
              <a:spcBef>
                <a:spcPts val="900"/>
              </a:spcBef>
              <a:spcAft>
                <a:spcPts val="0"/>
              </a:spcAft>
              <a:buNone/>
            </a:pPr>
            <a:endParaRPr sz="100">
              <a:solidFill>
                <a:srgbClr val="0B2545"/>
              </a:solidFill>
              <a:latin typeface="Montserrat SemiBold"/>
              <a:ea typeface="Montserrat SemiBold"/>
              <a:cs typeface="Montserrat SemiBold"/>
              <a:sym typeface="Montserrat SemiBold"/>
            </a:endParaRPr>
          </a:p>
          <a:p>
            <a:pPr marL="0" lvl="0" indent="0" algn="ctr" rtl="0">
              <a:spcBef>
                <a:spcPts val="900"/>
              </a:spcBef>
              <a:spcAft>
                <a:spcPts val="0"/>
              </a:spcAft>
              <a:buNone/>
            </a:pPr>
            <a:r>
              <a:rPr lang="en-GB" sz="900">
                <a:solidFill>
                  <a:srgbClr val="4A6582"/>
                </a:solidFill>
                <a:latin typeface="Inter"/>
                <a:ea typeface="Inter"/>
                <a:cs typeface="Inter"/>
                <a:sym typeface="Inter"/>
              </a:rPr>
              <a:t>Removed unnecessary columns</a:t>
            </a:r>
            <a:endParaRPr sz="900">
              <a:solidFill>
                <a:srgbClr val="4A6582"/>
              </a:solidFill>
              <a:latin typeface="Inter"/>
              <a:ea typeface="Inter"/>
              <a:cs typeface="Inter"/>
              <a:sym typeface="Inter"/>
            </a:endParaRPr>
          </a:p>
          <a:p>
            <a:pPr marL="0" lvl="0" indent="0" algn="ctr" rtl="0">
              <a:spcBef>
                <a:spcPts val="900"/>
              </a:spcBef>
              <a:spcAft>
                <a:spcPts val="0"/>
              </a:spcAft>
              <a:buNone/>
            </a:pPr>
            <a:r>
              <a:rPr lang="en-GB" sz="900">
                <a:solidFill>
                  <a:srgbClr val="4A6582"/>
                </a:solidFill>
                <a:latin typeface="Inter"/>
                <a:ea typeface="Inter"/>
                <a:cs typeface="Inter"/>
                <a:sym typeface="Inter"/>
              </a:rPr>
              <a:t>Standardized column names</a:t>
            </a:r>
            <a:endParaRPr sz="900">
              <a:solidFill>
                <a:srgbClr val="4A6582"/>
              </a:solidFill>
              <a:latin typeface="Inter"/>
              <a:ea typeface="Inter"/>
              <a:cs typeface="Inter"/>
              <a:sym typeface="Inter"/>
            </a:endParaRPr>
          </a:p>
          <a:p>
            <a:pPr marL="0" lvl="0" indent="0" algn="ctr" rtl="0">
              <a:spcBef>
                <a:spcPts val="900"/>
              </a:spcBef>
              <a:spcAft>
                <a:spcPts val="900"/>
              </a:spcAft>
              <a:buNone/>
            </a:pPr>
            <a:r>
              <a:rPr lang="en-GB" sz="900">
                <a:solidFill>
                  <a:srgbClr val="4A6582"/>
                </a:solidFill>
                <a:latin typeface="Inter"/>
                <a:ea typeface="Inter"/>
                <a:cs typeface="Inter"/>
                <a:sym typeface="Inter"/>
              </a:rPr>
              <a:t>Checked duplicated records</a:t>
            </a:r>
            <a:endParaRPr sz="900">
              <a:solidFill>
                <a:srgbClr val="4A6582"/>
              </a:solidFill>
              <a:latin typeface="Inter"/>
              <a:ea typeface="Inter"/>
              <a:cs typeface="Inter"/>
              <a:sym typeface="Inter"/>
            </a:endParaRPr>
          </a:p>
        </p:txBody>
      </p:sp>
      <p:sp>
        <p:nvSpPr>
          <p:cNvPr id="121" name="Google Shape;121;p16"/>
          <p:cNvSpPr/>
          <p:nvPr/>
        </p:nvSpPr>
        <p:spPr>
          <a:xfrm>
            <a:off x="2057408" y="1960929"/>
            <a:ext cx="1672200" cy="2074200"/>
          </a:xfrm>
          <a:prstGeom prst="roundRect">
            <a:avLst>
              <a:gd name="adj" fmla="val 16667"/>
            </a:avLst>
          </a:prstGeom>
          <a:solidFill>
            <a:schemeClr val="l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 name="Google Shape;122;p16"/>
          <p:cNvSpPr txBox="1"/>
          <p:nvPr/>
        </p:nvSpPr>
        <p:spPr>
          <a:xfrm>
            <a:off x="2057400" y="2472542"/>
            <a:ext cx="1672200" cy="1248600"/>
          </a:xfrm>
          <a:prstGeom prst="rect">
            <a:avLst/>
          </a:prstGeom>
          <a:solidFill>
            <a:srgbClr val="000000">
              <a:alpha val="0"/>
            </a:srgbClr>
          </a:solidFill>
          <a:ln>
            <a:noFill/>
          </a:ln>
        </p:spPr>
        <p:txBody>
          <a:bodyPr spcFirstLastPara="1" wrap="square" lIns="0" tIns="0" rIns="0" bIns="0" anchor="b" anchorCtr="0">
            <a:noAutofit/>
          </a:bodyPr>
          <a:lstStyle/>
          <a:p>
            <a:pPr marL="0" lvl="0" indent="0" algn="ctr" rtl="0">
              <a:spcBef>
                <a:spcPts val="0"/>
              </a:spcBef>
              <a:spcAft>
                <a:spcPts val="0"/>
              </a:spcAft>
              <a:buNone/>
            </a:pPr>
            <a:r>
              <a:rPr lang="en-GB" sz="1000">
                <a:solidFill>
                  <a:srgbClr val="0B2545"/>
                </a:solidFill>
                <a:latin typeface="Montserrat SemiBold"/>
                <a:ea typeface="Montserrat SemiBold"/>
                <a:cs typeface="Montserrat SemiBold"/>
                <a:sym typeface="Montserrat SemiBold"/>
              </a:rPr>
              <a:t>Missing &amp; inconsistent data</a:t>
            </a:r>
            <a:endParaRPr sz="1000">
              <a:solidFill>
                <a:srgbClr val="0B2545"/>
              </a:solidFill>
              <a:latin typeface="Montserrat SemiBold"/>
              <a:ea typeface="Montserrat SemiBold"/>
              <a:cs typeface="Montserrat SemiBold"/>
              <a:sym typeface="Montserrat SemiBold"/>
            </a:endParaRPr>
          </a:p>
          <a:p>
            <a:pPr marL="0" lvl="0" indent="0" algn="ctr" rtl="0">
              <a:spcBef>
                <a:spcPts val="900"/>
              </a:spcBef>
              <a:spcAft>
                <a:spcPts val="0"/>
              </a:spcAft>
              <a:buNone/>
            </a:pPr>
            <a:endParaRPr sz="600">
              <a:solidFill>
                <a:srgbClr val="0B2545"/>
              </a:solidFill>
              <a:latin typeface="Montserrat SemiBold"/>
              <a:ea typeface="Montserrat SemiBold"/>
              <a:cs typeface="Montserrat SemiBold"/>
              <a:sym typeface="Montserrat SemiBold"/>
            </a:endParaRPr>
          </a:p>
          <a:p>
            <a:pPr marL="0" lvl="0" indent="0" algn="ctr" rtl="0">
              <a:spcBef>
                <a:spcPts val="900"/>
              </a:spcBef>
              <a:spcAft>
                <a:spcPts val="0"/>
              </a:spcAft>
              <a:buNone/>
            </a:pPr>
            <a:r>
              <a:rPr lang="en-GB" sz="900">
                <a:solidFill>
                  <a:srgbClr val="4A6582"/>
                </a:solidFill>
                <a:latin typeface="Inter"/>
                <a:ea typeface="Inter"/>
                <a:cs typeface="Inter"/>
                <a:sym typeface="Inter"/>
              </a:rPr>
              <a:t>Handled missing values</a:t>
            </a:r>
            <a:endParaRPr sz="900">
              <a:solidFill>
                <a:srgbClr val="4A6582"/>
              </a:solidFill>
              <a:latin typeface="Inter"/>
              <a:ea typeface="Inter"/>
              <a:cs typeface="Inter"/>
              <a:sym typeface="Inter"/>
            </a:endParaRPr>
          </a:p>
          <a:p>
            <a:pPr marL="0" lvl="0" indent="0" algn="ctr" rtl="0">
              <a:spcBef>
                <a:spcPts val="900"/>
              </a:spcBef>
              <a:spcAft>
                <a:spcPts val="900"/>
              </a:spcAft>
              <a:buNone/>
            </a:pPr>
            <a:r>
              <a:rPr lang="en-GB" sz="900">
                <a:solidFill>
                  <a:srgbClr val="4A6582"/>
                </a:solidFill>
                <a:latin typeface="Inter"/>
                <a:ea typeface="Inter"/>
                <a:cs typeface="Inter"/>
                <a:sym typeface="Inter"/>
              </a:rPr>
              <a:t>Reviewed inconsistent entries</a:t>
            </a:r>
            <a:endParaRPr sz="900">
              <a:solidFill>
                <a:srgbClr val="4A6582"/>
              </a:solidFill>
              <a:latin typeface="Inter"/>
              <a:ea typeface="Inter"/>
              <a:cs typeface="Inter"/>
              <a:sym typeface="Inter"/>
            </a:endParaRPr>
          </a:p>
        </p:txBody>
      </p:sp>
      <p:sp>
        <p:nvSpPr>
          <p:cNvPr id="123" name="Google Shape;123;p16"/>
          <p:cNvSpPr/>
          <p:nvPr/>
        </p:nvSpPr>
        <p:spPr>
          <a:xfrm>
            <a:off x="3829058" y="1960929"/>
            <a:ext cx="1672200" cy="2074200"/>
          </a:xfrm>
          <a:prstGeom prst="roundRect">
            <a:avLst>
              <a:gd name="adj" fmla="val 16667"/>
            </a:avLst>
          </a:prstGeom>
          <a:solidFill>
            <a:schemeClr val="l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 name="Google Shape;124;p16"/>
          <p:cNvSpPr txBox="1"/>
          <p:nvPr/>
        </p:nvSpPr>
        <p:spPr>
          <a:xfrm>
            <a:off x="3812125" y="2751675"/>
            <a:ext cx="1672200" cy="1128300"/>
          </a:xfrm>
          <a:prstGeom prst="rect">
            <a:avLst/>
          </a:prstGeom>
          <a:solidFill>
            <a:srgbClr val="000000">
              <a:alpha val="0"/>
            </a:srgbClr>
          </a:solidFill>
          <a:ln>
            <a:noFill/>
          </a:ln>
        </p:spPr>
        <p:txBody>
          <a:bodyPr spcFirstLastPara="1" wrap="square" lIns="0" tIns="0" rIns="0" bIns="0" anchor="b" anchorCtr="0">
            <a:noAutofit/>
          </a:bodyPr>
          <a:lstStyle/>
          <a:p>
            <a:pPr marL="0" lvl="0" indent="0" algn="ctr" rtl="0">
              <a:spcBef>
                <a:spcPts val="0"/>
              </a:spcBef>
              <a:spcAft>
                <a:spcPts val="0"/>
              </a:spcAft>
              <a:buNone/>
            </a:pPr>
            <a:r>
              <a:rPr lang="en-GB" sz="1000">
                <a:solidFill>
                  <a:srgbClr val="0B2545"/>
                </a:solidFill>
                <a:latin typeface="Montserrat SemiBold"/>
                <a:ea typeface="Montserrat SemiBold"/>
                <a:cs typeface="Montserrat SemiBold"/>
                <a:sym typeface="Montserrat SemiBold"/>
              </a:rPr>
              <a:t>Location &amp; classifications</a:t>
            </a:r>
            <a:endParaRPr sz="1000">
              <a:solidFill>
                <a:srgbClr val="0B2545"/>
              </a:solidFill>
              <a:latin typeface="Montserrat SemiBold"/>
              <a:ea typeface="Montserrat SemiBold"/>
              <a:cs typeface="Montserrat SemiBold"/>
              <a:sym typeface="Montserrat SemiBold"/>
            </a:endParaRPr>
          </a:p>
          <a:p>
            <a:pPr marL="0" lvl="0" indent="0" algn="ctr" rtl="0">
              <a:spcBef>
                <a:spcPts val="900"/>
              </a:spcBef>
              <a:spcAft>
                <a:spcPts val="0"/>
              </a:spcAft>
              <a:buNone/>
            </a:pPr>
            <a:endParaRPr sz="100">
              <a:solidFill>
                <a:srgbClr val="0B2545"/>
              </a:solidFill>
              <a:latin typeface="Montserrat SemiBold"/>
              <a:ea typeface="Montserrat SemiBold"/>
              <a:cs typeface="Montserrat SemiBold"/>
              <a:sym typeface="Montserrat SemiBold"/>
            </a:endParaRPr>
          </a:p>
          <a:p>
            <a:pPr marL="0" lvl="0" indent="0" algn="ctr" rtl="0">
              <a:spcBef>
                <a:spcPts val="900"/>
              </a:spcBef>
              <a:spcAft>
                <a:spcPts val="0"/>
              </a:spcAft>
              <a:buNone/>
            </a:pPr>
            <a:r>
              <a:rPr lang="en-GB" sz="900">
                <a:solidFill>
                  <a:srgbClr val="4A6582"/>
                </a:solidFill>
                <a:latin typeface="Inter"/>
                <a:ea typeface="Inter"/>
                <a:cs typeface="Inter"/>
                <a:sym typeface="Inter"/>
              </a:rPr>
              <a:t>Cleaned country</a:t>
            </a:r>
            <a:endParaRPr sz="900">
              <a:solidFill>
                <a:srgbClr val="4A6582"/>
              </a:solidFill>
              <a:latin typeface="Inter"/>
              <a:ea typeface="Inter"/>
              <a:cs typeface="Inter"/>
              <a:sym typeface="Inter"/>
            </a:endParaRPr>
          </a:p>
          <a:p>
            <a:pPr marL="0" lvl="0" indent="0" algn="ctr" rtl="0">
              <a:spcBef>
                <a:spcPts val="900"/>
              </a:spcBef>
              <a:spcAft>
                <a:spcPts val="0"/>
              </a:spcAft>
              <a:buNone/>
            </a:pPr>
            <a:r>
              <a:rPr lang="en-GB" sz="900">
                <a:solidFill>
                  <a:srgbClr val="4A6582"/>
                </a:solidFill>
                <a:latin typeface="Inter"/>
                <a:ea typeface="Inter"/>
                <a:cs typeface="Inter"/>
                <a:sym typeface="Inter"/>
              </a:rPr>
              <a:t>Standardized fatality classifications</a:t>
            </a:r>
            <a:endParaRPr sz="900">
              <a:solidFill>
                <a:srgbClr val="4A6582"/>
              </a:solidFill>
              <a:latin typeface="Inter"/>
              <a:ea typeface="Inter"/>
              <a:cs typeface="Inter"/>
              <a:sym typeface="Inter"/>
            </a:endParaRPr>
          </a:p>
          <a:p>
            <a:pPr marL="0" lvl="0" indent="0" algn="ctr" rtl="0">
              <a:spcBef>
                <a:spcPts val="900"/>
              </a:spcBef>
              <a:spcAft>
                <a:spcPts val="900"/>
              </a:spcAft>
              <a:buNone/>
            </a:pPr>
            <a:r>
              <a:rPr lang="en-GB" sz="900">
                <a:solidFill>
                  <a:srgbClr val="4A6582"/>
                </a:solidFill>
                <a:latin typeface="Inter"/>
                <a:ea typeface="Inter"/>
                <a:cs typeface="Inter"/>
                <a:sym typeface="Inter"/>
              </a:rPr>
              <a:t>Identified incident types</a:t>
            </a:r>
            <a:endParaRPr sz="900">
              <a:solidFill>
                <a:srgbClr val="4A6582"/>
              </a:solidFill>
              <a:latin typeface="Inter"/>
              <a:ea typeface="Inter"/>
              <a:cs typeface="Inter"/>
              <a:sym typeface="Inter"/>
            </a:endParaRPr>
          </a:p>
        </p:txBody>
      </p:sp>
      <p:sp>
        <p:nvSpPr>
          <p:cNvPr id="125" name="Google Shape;125;p16"/>
          <p:cNvSpPr/>
          <p:nvPr/>
        </p:nvSpPr>
        <p:spPr>
          <a:xfrm>
            <a:off x="5535083" y="1960929"/>
            <a:ext cx="1672200" cy="2074200"/>
          </a:xfrm>
          <a:prstGeom prst="roundRect">
            <a:avLst>
              <a:gd name="adj" fmla="val 16667"/>
            </a:avLst>
          </a:prstGeom>
          <a:solidFill>
            <a:schemeClr val="l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 name="Google Shape;126;p16"/>
          <p:cNvSpPr txBox="1"/>
          <p:nvPr/>
        </p:nvSpPr>
        <p:spPr>
          <a:xfrm>
            <a:off x="5566852" y="2436692"/>
            <a:ext cx="1672200" cy="1320300"/>
          </a:xfrm>
          <a:prstGeom prst="rect">
            <a:avLst/>
          </a:prstGeom>
          <a:solidFill>
            <a:srgbClr val="000000">
              <a:alpha val="0"/>
            </a:srgbClr>
          </a:solidFill>
          <a:ln>
            <a:noFill/>
          </a:ln>
        </p:spPr>
        <p:txBody>
          <a:bodyPr spcFirstLastPara="1" wrap="square" lIns="0" tIns="0" rIns="0" bIns="0" anchor="b" anchorCtr="0">
            <a:noAutofit/>
          </a:bodyPr>
          <a:lstStyle/>
          <a:p>
            <a:pPr marL="0" lvl="0" indent="0" algn="ctr" rtl="0">
              <a:spcBef>
                <a:spcPts val="0"/>
              </a:spcBef>
              <a:spcAft>
                <a:spcPts val="0"/>
              </a:spcAft>
              <a:buNone/>
            </a:pPr>
            <a:r>
              <a:rPr lang="en-GB" sz="1000">
                <a:solidFill>
                  <a:srgbClr val="0B2545"/>
                </a:solidFill>
                <a:latin typeface="Montserrat SemiBold"/>
                <a:ea typeface="Montserrat SemiBold"/>
                <a:cs typeface="Montserrat SemiBold"/>
                <a:sym typeface="Montserrat SemiBold"/>
              </a:rPr>
              <a:t>Activity &amp; shark species</a:t>
            </a:r>
            <a:endParaRPr sz="1000">
              <a:solidFill>
                <a:srgbClr val="0B2545"/>
              </a:solidFill>
              <a:latin typeface="Montserrat SemiBold"/>
              <a:ea typeface="Montserrat SemiBold"/>
              <a:cs typeface="Montserrat SemiBold"/>
              <a:sym typeface="Montserrat SemiBold"/>
            </a:endParaRPr>
          </a:p>
          <a:p>
            <a:pPr marL="0" lvl="0" indent="0" algn="ctr" rtl="0">
              <a:spcBef>
                <a:spcPts val="900"/>
              </a:spcBef>
              <a:spcAft>
                <a:spcPts val="0"/>
              </a:spcAft>
              <a:buNone/>
            </a:pPr>
            <a:endParaRPr sz="100">
              <a:solidFill>
                <a:srgbClr val="0B2545"/>
              </a:solidFill>
              <a:latin typeface="Montserrat SemiBold"/>
              <a:ea typeface="Montserrat SemiBold"/>
              <a:cs typeface="Montserrat SemiBold"/>
              <a:sym typeface="Montserrat SemiBold"/>
            </a:endParaRPr>
          </a:p>
          <a:p>
            <a:pPr marL="0" lvl="0" indent="0" algn="ctr" rtl="0">
              <a:spcBef>
                <a:spcPts val="900"/>
              </a:spcBef>
              <a:spcAft>
                <a:spcPts val="0"/>
              </a:spcAft>
              <a:buNone/>
            </a:pPr>
            <a:r>
              <a:rPr lang="en-GB" sz="900">
                <a:solidFill>
                  <a:srgbClr val="4A6582"/>
                </a:solidFill>
                <a:latin typeface="Inter"/>
                <a:ea typeface="Inter"/>
                <a:cs typeface="Inter"/>
                <a:sym typeface="Inter"/>
              </a:rPr>
              <a:t>Cleaned activity categories</a:t>
            </a:r>
            <a:endParaRPr sz="900">
              <a:solidFill>
                <a:srgbClr val="4A6582"/>
              </a:solidFill>
              <a:latin typeface="Inter"/>
              <a:ea typeface="Inter"/>
              <a:cs typeface="Inter"/>
              <a:sym typeface="Inter"/>
            </a:endParaRPr>
          </a:p>
          <a:p>
            <a:pPr marL="0" lvl="0" indent="0" algn="ctr" rtl="0">
              <a:spcBef>
                <a:spcPts val="900"/>
              </a:spcBef>
              <a:spcAft>
                <a:spcPts val="0"/>
              </a:spcAft>
              <a:buNone/>
            </a:pPr>
            <a:r>
              <a:rPr lang="en-GB" sz="900">
                <a:solidFill>
                  <a:srgbClr val="4A6582"/>
                </a:solidFill>
                <a:latin typeface="Inter"/>
                <a:ea typeface="Inter"/>
                <a:cs typeface="Inter"/>
                <a:sym typeface="Inter"/>
              </a:rPr>
              <a:t>Standardized shark species</a:t>
            </a:r>
            <a:endParaRPr sz="900">
              <a:solidFill>
                <a:srgbClr val="4A6582"/>
              </a:solidFill>
              <a:latin typeface="Inter"/>
              <a:ea typeface="Inter"/>
              <a:cs typeface="Inter"/>
              <a:sym typeface="Inter"/>
            </a:endParaRPr>
          </a:p>
          <a:p>
            <a:pPr marL="0" lvl="0" indent="0" algn="ctr" rtl="0">
              <a:spcBef>
                <a:spcPts val="900"/>
              </a:spcBef>
              <a:spcAft>
                <a:spcPts val="900"/>
              </a:spcAft>
              <a:buNone/>
            </a:pPr>
            <a:r>
              <a:rPr lang="en-GB" sz="900">
                <a:solidFill>
                  <a:srgbClr val="4A6582"/>
                </a:solidFill>
                <a:latin typeface="Inter"/>
                <a:ea typeface="Inter"/>
                <a:cs typeface="Inter"/>
                <a:sym typeface="Inter"/>
              </a:rPr>
              <a:t>where possible</a:t>
            </a:r>
            <a:endParaRPr sz="900">
              <a:solidFill>
                <a:srgbClr val="4A6582"/>
              </a:solidFill>
              <a:latin typeface="Inter"/>
              <a:ea typeface="Inter"/>
              <a:cs typeface="Inter"/>
              <a:sym typeface="Inter"/>
            </a:endParaRPr>
          </a:p>
        </p:txBody>
      </p:sp>
      <p:sp>
        <p:nvSpPr>
          <p:cNvPr id="127" name="Google Shape;127;p16"/>
          <p:cNvSpPr/>
          <p:nvPr/>
        </p:nvSpPr>
        <p:spPr>
          <a:xfrm>
            <a:off x="7241117" y="1960929"/>
            <a:ext cx="1672200" cy="2074200"/>
          </a:xfrm>
          <a:prstGeom prst="roundRect">
            <a:avLst>
              <a:gd name="adj" fmla="val 16667"/>
            </a:avLst>
          </a:prstGeom>
          <a:solidFill>
            <a:schemeClr val="l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 name="Google Shape;128;p16"/>
          <p:cNvSpPr txBox="1"/>
          <p:nvPr/>
        </p:nvSpPr>
        <p:spPr>
          <a:xfrm>
            <a:off x="7272875" y="2457858"/>
            <a:ext cx="1672200" cy="1320300"/>
          </a:xfrm>
          <a:prstGeom prst="rect">
            <a:avLst/>
          </a:prstGeom>
          <a:solidFill>
            <a:srgbClr val="000000">
              <a:alpha val="0"/>
            </a:srgbClr>
          </a:solidFill>
          <a:ln>
            <a:noFill/>
          </a:ln>
        </p:spPr>
        <p:txBody>
          <a:bodyPr spcFirstLastPara="1" wrap="square" lIns="0" tIns="0" rIns="0" bIns="0" anchor="b" anchorCtr="0">
            <a:noAutofit/>
          </a:bodyPr>
          <a:lstStyle/>
          <a:p>
            <a:pPr marL="0" lvl="0" indent="0" algn="ctr" rtl="0">
              <a:spcBef>
                <a:spcPts val="0"/>
              </a:spcBef>
              <a:spcAft>
                <a:spcPts val="0"/>
              </a:spcAft>
              <a:buNone/>
            </a:pPr>
            <a:r>
              <a:rPr lang="en-GB" sz="1000" dirty="0">
                <a:solidFill>
                  <a:srgbClr val="0B2545"/>
                </a:solidFill>
                <a:latin typeface="Montserrat SemiBold"/>
                <a:ea typeface="Montserrat SemiBold"/>
                <a:cs typeface="Montserrat SemiBold"/>
                <a:sym typeface="Montserrat SemiBold"/>
              </a:rPr>
              <a:t>Date transformation</a:t>
            </a:r>
          </a:p>
          <a:p>
            <a:pPr marL="0" lvl="0" indent="0" algn="ctr" rtl="0">
              <a:spcBef>
                <a:spcPts val="900"/>
              </a:spcBef>
              <a:spcAft>
                <a:spcPts val="0"/>
              </a:spcAft>
              <a:buNone/>
            </a:pPr>
            <a:endParaRPr sz="100" dirty="0">
              <a:solidFill>
                <a:srgbClr val="0B2545"/>
              </a:solidFill>
              <a:latin typeface="Montserrat SemiBold"/>
              <a:ea typeface="Montserrat SemiBold"/>
              <a:cs typeface="Montserrat SemiBold"/>
              <a:sym typeface="Montserrat SemiBold"/>
            </a:endParaRPr>
          </a:p>
          <a:p>
            <a:pPr marL="0" lvl="0" indent="0" algn="ctr" rtl="0">
              <a:spcBef>
                <a:spcPts val="900"/>
              </a:spcBef>
              <a:spcAft>
                <a:spcPts val="0"/>
              </a:spcAft>
              <a:buNone/>
            </a:pPr>
            <a:r>
              <a:rPr lang="en-GB" sz="900" dirty="0">
                <a:solidFill>
                  <a:srgbClr val="4A6582"/>
                </a:solidFill>
                <a:latin typeface="Inter"/>
                <a:ea typeface="Inter"/>
                <a:cs typeface="Inter"/>
                <a:sym typeface="Inter"/>
              </a:rPr>
              <a:t>Converted dates and years</a:t>
            </a:r>
            <a:endParaRPr sz="900" dirty="0">
              <a:solidFill>
                <a:srgbClr val="4A6582"/>
              </a:solidFill>
              <a:latin typeface="Inter"/>
              <a:ea typeface="Inter"/>
              <a:cs typeface="Inter"/>
              <a:sym typeface="Inter"/>
            </a:endParaRPr>
          </a:p>
          <a:p>
            <a:pPr marL="0" lvl="0" indent="0" algn="ctr" rtl="0">
              <a:spcBef>
                <a:spcPts val="900"/>
              </a:spcBef>
              <a:spcAft>
                <a:spcPts val="0"/>
              </a:spcAft>
              <a:buNone/>
            </a:pPr>
            <a:r>
              <a:rPr lang="en-GB" sz="900" dirty="0">
                <a:solidFill>
                  <a:srgbClr val="4A6582"/>
                </a:solidFill>
                <a:latin typeface="Inter"/>
                <a:ea typeface="Inter"/>
                <a:cs typeface="Inter"/>
                <a:sym typeface="Inter"/>
              </a:rPr>
              <a:t>Created month and season</a:t>
            </a:r>
            <a:endParaRPr sz="900" dirty="0">
              <a:solidFill>
                <a:srgbClr val="4A6582"/>
              </a:solidFill>
              <a:latin typeface="Inter"/>
              <a:ea typeface="Inter"/>
              <a:cs typeface="Inter"/>
              <a:sym typeface="Inter"/>
            </a:endParaRPr>
          </a:p>
          <a:p>
            <a:pPr marL="0" lvl="0" indent="0" algn="ctr" rtl="0">
              <a:spcBef>
                <a:spcPts val="900"/>
              </a:spcBef>
              <a:spcAft>
                <a:spcPts val="900"/>
              </a:spcAft>
              <a:buNone/>
            </a:pPr>
            <a:r>
              <a:rPr lang="en-GB" sz="900" dirty="0">
                <a:solidFill>
                  <a:srgbClr val="4A6582"/>
                </a:solidFill>
                <a:latin typeface="Inter"/>
                <a:ea typeface="Inter"/>
                <a:cs typeface="Inter"/>
                <a:sym typeface="Inter"/>
              </a:rPr>
              <a:t>variables</a:t>
            </a:r>
            <a:endParaRPr sz="900" dirty="0">
              <a:solidFill>
                <a:srgbClr val="4A6582"/>
              </a:solidFill>
              <a:latin typeface="Inter"/>
              <a:ea typeface="Inter"/>
              <a:cs typeface="Inter"/>
              <a:sym typeface="Inter"/>
            </a:endParaRPr>
          </a:p>
        </p:txBody>
      </p:sp>
      <p:pic>
        <p:nvPicPr>
          <p:cNvPr id="129" name="Google Shape;129;p16"/>
          <p:cNvPicPr preferRelativeResize="0"/>
          <p:nvPr/>
        </p:nvPicPr>
        <p:blipFill>
          <a:blip r:embed="rId6">
            <a:alphaModFix/>
          </a:blip>
          <a:stretch>
            <a:fillRect/>
          </a:stretch>
        </p:blipFill>
        <p:spPr>
          <a:xfrm>
            <a:off x="2572775" y="2005360"/>
            <a:ext cx="577850" cy="577850"/>
          </a:xfrm>
          <a:prstGeom prst="rect">
            <a:avLst/>
          </a:prstGeom>
          <a:solidFill>
            <a:schemeClr val="lt1"/>
          </a:solidFill>
          <a:ln>
            <a:noFill/>
          </a:ln>
        </p:spPr>
      </p:pic>
      <p:pic>
        <p:nvPicPr>
          <p:cNvPr id="130" name="Google Shape;130;p16"/>
          <p:cNvPicPr preferRelativeResize="0"/>
          <p:nvPr/>
        </p:nvPicPr>
        <p:blipFill>
          <a:blip r:embed="rId7">
            <a:alphaModFix/>
          </a:blip>
          <a:stretch>
            <a:fillRect/>
          </a:stretch>
        </p:blipFill>
        <p:spPr>
          <a:xfrm>
            <a:off x="4343413" y="1990131"/>
            <a:ext cx="577850" cy="577850"/>
          </a:xfrm>
          <a:prstGeom prst="rect">
            <a:avLst/>
          </a:prstGeom>
          <a:solidFill>
            <a:schemeClr val="lt1"/>
          </a:solidFill>
          <a:ln>
            <a:noFill/>
          </a:ln>
        </p:spPr>
      </p:pic>
      <p:pic>
        <p:nvPicPr>
          <p:cNvPr id="131" name="Google Shape;131;p16"/>
          <p:cNvPicPr preferRelativeResize="0"/>
          <p:nvPr/>
        </p:nvPicPr>
        <p:blipFill>
          <a:blip r:embed="rId8">
            <a:alphaModFix/>
          </a:blip>
          <a:stretch>
            <a:fillRect/>
          </a:stretch>
        </p:blipFill>
        <p:spPr>
          <a:xfrm>
            <a:off x="6062125" y="1989256"/>
            <a:ext cx="579600" cy="579600"/>
          </a:xfrm>
          <a:prstGeom prst="rect">
            <a:avLst/>
          </a:prstGeom>
          <a:solidFill>
            <a:schemeClr val="lt1"/>
          </a:solidFill>
          <a:ln>
            <a:noFill/>
          </a:ln>
        </p:spPr>
      </p:pic>
      <p:pic>
        <p:nvPicPr>
          <p:cNvPr id="132" name="Google Shape;132;p16"/>
          <p:cNvPicPr preferRelativeResize="0"/>
          <p:nvPr/>
        </p:nvPicPr>
        <p:blipFill>
          <a:blip r:embed="rId9">
            <a:alphaModFix/>
          </a:blip>
          <a:stretch>
            <a:fillRect/>
          </a:stretch>
        </p:blipFill>
        <p:spPr>
          <a:xfrm>
            <a:off x="7821100" y="1989256"/>
            <a:ext cx="579600" cy="579600"/>
          </a:xfrm>
          <a:prstGeom prst="rect">
            <a:avLst/>
          </a:prstGeom>
          <a:solidFill>
            <a:schemeClr val="lt1"/>
          </a:solidFill>
          <a:ln>
            <a:noFill/>
          </a:ln>
        </p:spPr>
      </p:pic>
      <p:sp>
        <p:nvSpPr>
          <p:cNvPr id="133" name="Google Shape;133;p16"/>
          <p:cNvSpPr txBox="1"/>
          <p:nvPr/>
        </p:nvSpPr>
        <p:spPr>
          <a:xfrm>
            <a:off x="285757" y="4186600"/>
            <a:ext cx="1739700" cy="258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1100" b="1">
                <a:solidFill>
                  <a:schemeClr val="accent5"/>
                </a:solidFill>
                <a:latin typeface="Inter"/>
                <a:ea typeface="Inter"/>
                <a:cs typeface="Inter"/>
                <a:sym typeface="Inter"/>
              </a:rPr>
              <a:t>Cleaning Workflow</a:t>
            </a:r>
            <a:endParaRPr sz="1100">
              <a:solidFill>
                <a:srgbClr val="4A6582"/>
              </a:solidFill>
              <a:latin typeface="Inter"/>
              <a:ea typeface="Inter"/>
              <a:cs typeface="Inter"/>
              <a:sym typeface="Inter"/>
            </a:endParaRPr>
          </a:p>
        </p:txBody>
      </p:sp>
      <p:pic>
        <p:nvPicPr>
          <p:cNvPr id="134" name="Google Shape;134;p16"/>
          <p:cNvPicPr preferRelativeResize="0"/>
          <p:nvPr/>
        </p:nvPicPr>
        <p:blipFill>
          <a:blip r:embed="rId10">
            <a:alphaModFix/>
          </a:blip>
          <a:stretch>
            <a:fillRect/>
          </a:stretch>
        </p:blipFill>
        <p:spPr>
          <a:xfrm>
            <a:off x="216900" y="4444900"/>
            <a:ext cx="8710201" cy="550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grpSp>
        <p:nvGrpSpPr>
          <p:cNvPr id="139" name="Google Shape;139;p17"/>
          <p:cNvGrpSpPr/>
          <p:nvPr/>
        </p:nvGrpSpPr>
        <p:grpSpPr>
          <a:xfrm>
            <a:off x="0" y="0"/>
            <a:ext cx="9144000" cy="5143500"/>
            <a:chOff x="0" y="0"/>
            <a:chExt cx="9144000" cy="5143500"/>
          </a:xfrm>
        </p:grpSpPr>
        <p:sp>
          <p:nvSpPr>
            <p:cNvPr id="140" name="Google Shape;140;p17"/>
            <p:cNvSpPr/>
            <p:nvPr/>
          </p:nvSpPr>
          <p:spPr>
            <a:xfrm>
              <a:off x="0" y="0"/>
              <a:ext cx="9144000" cy="5143500"/>
            </a:xfrm>
            <a:prstGeom prst="rect">
              <a:avLst/>
            </a:prstGeom>
            <a:solidFill>
              <a:srgbClr val="F4F7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41" name="Google Shape;141;p17"/>
            <p:cNvGrpSpPr/>
            <p:nvPr/>
          </p:nvGrpSpPr>
          <p:grpSpPr>
            <a:xfrm>
              <a:off x="476250" y="285750"/>
              <a:ext cx="409575" cy="238200"/>
              <a:chOff x="95250" y="0"/>
              <a:chExt cx="409575" cy="238200"/>
            </a:xfrm>
          </p:grpSpPr>
          <p:sp>
            <p:nvSpPr>
              <p:cNvPr id="142" name="Google Shape;142;p17"/>
              <p:cNvSpPr/>
              <p:nvPr/>
            </p:nvSpPr>
            <p:spPr>
              <a:xfrm>
                <a:off x="95250" y="0"/>
                <a:ext cx="190500" cy="238200"/>
              </a:xfrm>
              <a:custGeom>
                <a:avLst/>
                <a:gdLst/>
                <a:ahLst/>
                <a:cxnLst/>
                <a:rect l="l" t="t" r="r" b="b"/>
                <a:pathLst>
                  <a:path w="120000" h="120000" extrusionOk="0">
                    <a:moveTo>
                      <a:pt x="0" y="96000"/>
                    </a:moveTo>
                    <a:quadBezTo>
                      <a:pt x="30000" y="24000"/>
                      <a:pt x="90000" y="0"/>
                    </a:quadBezTo>
                    <a:quadBezTo>
                      <a:pt x="60000" y="72000"/>
                      <a:pt x="120000" y="120000"/>
                    </a:quadBezTo>
                    <a:lnTo>
                      <a:pt x="0" y="120000"/>
                    </a:lnTo>
                    <a:close/>
                  </a:path>
                </a:pathLst>
              </a:cu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3" name="Google Shape;143;p17"/>
              <p:cNvSpPr/>
              <p:nvPr/>
            </p:nvSpPr>
            <p:spPr>
              <a:xfrm>
                <a:off x="333375" y="47625"/>
                <a:ext cx="38100" cy="190500"/>
              </a:xfrm>
              <a:prstGeom prst="rect">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4" name="Google Shape;144;p17"/>
              <p:cNvSpPr/>
              <p:nvPr/>
            </p:nvSpPr>
            <p:spPr>
              <a:xfrm>
                <a:off x="400050" y="114300"/>
                <a:ext cx="38100" cy="123900"/>
              </a:xfrm>
              <a:prstGeom prst="rect">
                <a:avLst/>
              </a:prstGeom>
              <a:solidFill>
                <a:srgbClr val="8DA9C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5" name="Google Shape;145;p17"/>
              <p:cNvSpPr/>
              <p:nvPr/>
            </p:nvSpPr>
            <p:spPr>
              <a:xfrm>
                <a:off x="466725" y="76200"/>
                <a:ext cx="38100" cy="162000"/>
              </a:xfrm>
              <a:prstGeom prst="rect">
                <a:avLst/>
              </a:prstGeom>
              <a:solidFill>
                <a:srgbClr val="0B254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pic>
          <p:nvPicPr>
            <p:cNvPr id="146" name="Google Shape;146;p17"/>
            <p:cNvPicPr preferRelativeResize="0"/>
            <p:nvPr/>
          </p:nvPicPr>
          <p:blipFill rotWithShape="1">
            <a:blip r:embed="rId3">
              <a:alphaModFix/>
            </a:blip>
            <a:srcRect/>
            <a:stretch/>
          </p:blipFill>
          <p:spPr>
            <a:xfrm>
              <a:off x="381000" y="852488"/>
              <a:ext cx="8382000" cy="9600"/>
            </a:xfrm>
            <a:prstGeom prst="rect">
              <a:avLst/>
            </a:prstGeom>
            <a:noFill/>
            <a:ln>
              <a:noFill/>
            </a:ln>
          </p:spPr>
        </p:pic>
        <p:sp>
          <p:nvSpPr>
            <p:cNvPr id="147" name="Google Shape;147;p17"/>
            <p:cNvSpPr/>
            <p:nvPr/>
          </p:nvSpPr>
          <p:spPr>
            <a:xfrm>
              <a:off x="0" y="4191000"/>
              <a:ext cx="9144000" cy="952500"/>
            </a:xfrm>
            <a:custGeom>
              <a:avLst/>
              <a:gdLst/>
              <a:ahLst/>
              <a:cxnLst/>
              <a:rect l="l" t="t" r="r" b="b"/>
              <a:pathLst>
                <a:path w="120000" h="120000" extrusionOk="0">
                  <a:moveTo>
                    <a:pt x="0" y="48000"/>
                  </a:moveTo>
                  <a:quadBezTo>
                    <a:pt x="30000" y="0"/>
                    <a:pt x="60000" y="48000"/>
                  </a:quadBezTo>
                  <a:lnTo>
                    <a:pt x="120000" y="48000"/>
                  </a:lnTo>
                  <a:lnTo>
                    <a:pt x="120000" y="120000"/>
                  </a:lnTo>
                  <a:lnTo>
                    <a:pt x="0" y="120000"/>
                  </a:lnTo>
                  <a:close/>
                </a:path>
              </a:pathLst>
            </a:custGeom>
            <a:solidFill>
              <a:srgbClr val="0B2545">
                <a:alpha val="5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48" name="Google Shape;148;p17"/>
          <p:cNvSpPr txBox="1"/>
          <p:nvPr/>
        </p:nvSpPr>
        <p:spPr>
          <a:xfrm>
            <a:off x="1047750" y="238125"/>
            <a:ext cx="4327200" cy="762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665" b="1" i="0" u="none" strike="noStrike">
                <a:solidFill>
                  <a:srgbClr val="0B2545"/>
                </a:solidFill>
                <a:latin typeface="Montserrat"/>
                <a:ea typeface="Montserrat"/>
                <a:cs typeface="Montserrat"/>
                <a:sym typeface="Montserrat"/>
              </a:rPr>
              <a:t>Destination: </a:t>
            </a:r>
            <a:endParaRPr sz="1665" b="1" i="0" u="none" strike="noStrike">
              <a:solidFill>
                <a:srgbClr val="0B2545"/>
              </a:solidFill>
              <a:latin typeface="Montserrat"/>
              <a:ea typeface="Montserrat"/>
              <a:cs typeface="Montserrat"/>
              <a:sym typeface="Montserrat"/>
            </a:endParaRPr>
          </a:p>
          <a:p>
            <a:pPr marL="0" lvl="0" indent="0" algn="l" rtl="0">
              <a:spcBef>
                <a:spcPts val="0"/>
              </a:spcBef>
              <a:spcAft>
                <a:spcPts val="0"/>
              </a:spcAft>
              <a:buNone/>
            </a:pPr>
            <a:r>
              <a:rPr lang="en-GB" sz="1665" b="1">
                <a:solidFill>
                  <a:srgbClr val="0B2545"/>
                </a:solidFill>
                <a:latin typeface="Montserrat"/>
                <a:ea typeface="Montserrat"/>
                <a:cs typeface="Montserrat"/>
                <a:sym typeface="Montserrat"/>
              </a:rPr>
              <a:t>Incident Frequency vs. Fatality </a:t>
            </a:r>
            <a:endParaRPr sz="1665" b="1" i="0" u="none" strike="noStrike">
              <a:solidFill>
                <a:srgbClr val="0B2545"/>
              </a:solidFill>
              <a:latin typeface="Montserrat"/>
              <a:ea typeface="Montserrat"/>
              <a:cs typeface="Montserrat"/>
              <a:sym typeface="Montserrat"/>
            </a:endParaRPr>
          </a:p>
        </p:txBody>
      </p:sp>
      <p:pic>
        <p:nvPicPr>
          <p:cNvPr id="149" name="Google Shape;149;p17"/>
          <p:cNvPicPr preferRelativeResize="0"/>
          <p:nvPr/>
        </p:nvPicPr>
        <p:blipFill>
          <a:blip r:embed="rId4">
            <a:alphaModFix/>
          </a:blip>
          <a:stretch>
            <a:fillRect/>
          </a:stretch>
        </p:blipFill>
        <p:spPr>
          <a:xfrm>
            <a:off x="406075" y="1438331"/>
            <a:ext cx="4239702" cy="2676175"/>
          </a:xfrm>
          <a:prstGeom prst="rect">
            <a:avLst/>
          </a:prstGeom>
          <a:noFill/>
          <a:ln>
            <a:noFill/>
          </a:ln>
        </p:spPr>
      </p:pic>
      <p:pic>
        <p:nvPicPr>
          <p:cNvPr id="150" name="Google Shape;150;p17"/>
          <p:cNvPicPr preferRelativeResize="0"/>
          <p:nvPr/>
        </p:nvPicPr>
        <p:blipFill>
          <a:blip r:embed="rId5">
            <a:alphaModFix/>
          </a:blip>
          <a:stretch>
            <a:fillRect/>
          </a:stretch>
        </p:blipFill>
        <p:spPr>
          <a:xfrm>
            <a:off x="4639929" y="1438331"/>
            <a:ext cx="4239699" cy="2676175"/>
          </a:xfrm>
          <a:prstGeom prst="rect">
            <a:avLst/>
          </a:prstGeom>
          <a:noFill/>
          <a:ln>
            <a:noFill/>
          </a:ln>
        </p:spPr>
      </p:pic>
      <p:sp>
        <p:nvSpPr>
          <p:cNvPr id="151" name="Google Shape;151;p17"/>
          <p:cNvSpPr txBox="1"/>
          <p:nvPr/>
        </p:nvSpPr>
        <p:spPr>
          <a:xfrm>
            <a:off x="381000" y="999711"/>
            <a:ext cx="8382000" cy="2859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100" b="1">
                <a:solidFill>
                  <a:schemeClr val="accent5"/>
                </a:solidFill>
                <a:latin typeface="Inter"/>
                <a:ea typeface="Inter"/>
                <a:cs typeface="Inter"/>
                <a:sym typeface="Inter"/>
              </a:rPr>
              <a:t>Frequency and severity vary substantially across countries</a:t>
            </a:r>
            <a:endParaRPr sz="1100" b="1">
              <a:solidFill>
                <a:schemeClr val="accent5"/>
              </a:solidFill>
              <a:latin typeface="Inter"/>
              <a:ea typeface="Inter"/>
              <a:cs typeface="Inter"/>
              <a:sym typeface="Inter"/>
            </a:endParaRPr>
          </a:p>
          <a:p>
            <a:pPr marL="0" lvl="0" indent="0" algn="l" rtl="0">
              <a:spcBef>
                <a:spcPts val="0"/>
              </a:spcBef>
              <a:spcAft>
                <a:spcPts val="0"/>
              </a:spcAft>
              <a:buNone/>
            </a:pPr>
            <a:endParaRPr sz="1100">
              <a:solidFill>
                <a:srgbClr val="4A6582"/>
              </a:solidFill>
              <a:latin typeface="Inter"/>
              <a:ea typeface="Inter"/>
              <a:cs typeface="Inter"/>
              <a:sym typeface="Inter"/>
            </a:endParaRPr>
          </a:p>
        </p:txBody>
      </p:sp>
      <p:sp>
        <p:nvSpPr>
          <p:cNvPr id="152" name="Google Shape;152;p17"/>
          <p:cNvSpPr txBox="1"/>
          <p:nvPr/>
        </p:nvSpPr>
        <p:spPr>
          <a:xfrm>
            <a:off x="1744325" y="4215438"/>
            <a:ext cx="7135200" cy="838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1018" b="0" i="0" u="none" strike="noStrike">
                <a:solidFill>
                  <a:srgbClr val="0B2545"/>
                </a:solidFill>
                <a:latin typeface="Inter SemiBold"/>
                <a:ea typeface="Inter SemiBold"/>
                <a:cs typeface="Inter SemiBold"/>
                <a:sym typeface="Inter SemiBold"/>
              </a:rPr>
              <a:t>• High Incident Zones:</a:t>
            </a:r>
            <a:r>
              <a:rPr lang="en-GB" sz="1018" b="0" i="0" u="none" strike="noStrike">
                <a:solidFill>
                  <a:srgbClr val="4A6582"/>
                </a:solidFill>
                <a:latin typeface="Inter"/>
                <a:ea typeface="Inter"/>
                <a:cs typeface="Inter"/>
                <a:sym typeface="Inter"/>
              </a:rPr>
              <a:t> USA &amp; Australia register highest absolute recorded incidents.</a:t>
            </a:r>
            <a:endParaRPr sz="1018" b="0" i="0" u="none" strike="noStrike">
              <a:solidFill>
                <a:srgbClr val="0B2545"/>
              </a:solidFill>
              <a:latin typeface="Inter SemiBold"/>
              <a:ea typeface="Inter SemiBold"/>
              <a:cs typeface="Inter SemiBold"/>
              <a:sym typeface="Inter SemiBold"/>
            </a:endParaRPr>
          </a:p>
          <a:p>
            <a:pPr marL="0" lvl="0" indent="0" algn="l" rtl="0">
              <a:spcBef>
                <a:spcPts val="600"/>
              </a:spcBef>
              <a:spcAft>
                <a:spcPts val="0"/>
              </a:spcAft>
              <a:buNone/>
            </a:pPr>
            <a:r>
              <a:rPr lang="en-GB" sz="1018" b="0" i="0" u="none" strike="noStrike">
                <a:solidFill>
                  <a:srgbClr val="0B2545"/>
                </a:solidFill>
                <a:latin typeface="Inter SemiBold"/>
                <a:ea typeface="Inter SemiBold"/>
                <a:cs typeface="Inter SemiBold"/>
                <a:sym typeface="Inter SemiBold"/>
              </a:rPr>
              <a:t>• Low Risk Zones:</a:t>
            </a:r>
            <a:r>
              <a:rPr lang="en-GB" sz="1018" b="0" i="0" u="none" strike="noStrike">
                <a:solidFill>
                  <a:srgbClr val="4A6582"/>
                </a:solidFill>
                <a:latin typeface="Inter"/>
                <a:ea typeface="Inter"/>
                <a:cs typeface="Inter"/>
                <a:sym typeface="Inter"/>
              </a:rPr>
              <a:t> Mediterranean and specific Caribbean islands exhibit minimal historical incident rates.</a:t>
            </a:r>
            <a:endParaRPr sz="1018" b="0" i="0" u="none" strike="noStrike">
              <a:solidFill>
                <a:srgbClr val="0B2545"/>
              </a:solidFill>
              <a:latin typeface="Inter SemiBold"/>
              <a:ea typeface="Inter SemiBold"/>
              <a:cs typeface="Inter SemiBold"/>
              <a:sym typeface="Inter SemiBold"/>
            </a:endParaRPr>
          </a:p>
          <a:p>
            <a:pPr marL="0" lvl="0" indent="0" algn="l" rtl="0">
              <a:spcBef>
                <a:spcPts val="600"/>
              </a:spcBef>
              <a:spcAft>
                <a:spcPts val="600"/>
              </a:spcAft>
              <a:buNone/>
            </a:pPr>
            <a:r>
              <a:rPr lang="en-GB" sz="1018" b="0" i="0" u="none" strike="noStrike">
                <a:solidFill>
                  <a:srgbClr val="0B2545"/>
                </a:solidFill>
                <a:latin typeface="Inter SemiBold"/>
                <a:ea typeface="Inter SemiBold"/>
                <a:cs typeface="Inter SemiBold"/>
                <a:sym typeface="Inter SemiBold"/>
              </a:rPr>
              <a:t>• Tour Safety Routing:</a:t>
            </a:r>
            <a:r>
              <a:rPr lang="en-GB" sz="1018" b="0" i="0" u="none" strike="noStrike">
                <a:solidFill>
                  <a:srgbClr val="4A6582"/>
                </a:solidFill>
                <a:latin typeface="Inter"/>
                <a:ea typeface="Inter"/>
                <a:cs typeface="Inter"/>
                <a:sym typeface="Inter"/>
              </a:rPr>
              <a:t> Fatality percentage analysis pinpoints optimal locations for recreational itineraries.</a:t>
            </a:r>
            <a:endParaRPr sz="1018" b="0" i="0" u="none" strike="noStrike">
              <a:solidFill>
                <a:srgbClr val="0B2545"/>
              </a:solidFill>
              <a:latin typeface="Inter SemiBold"/>
              <a:ea typeface="Inter SemiBold"/>
              <a:cs typeface="Inter SemiBold"/>
              <a:sym typeface="Inter SemiBold"/>
            </a:endParaRPr>
          </a:p>
        </p:txBody>
      </p:sp>
      <p:pic>
        <p:nvPicPr>
          <p:cNvPr id="153" name="Google Shape;153;p17"/>
          <p:cNvPicPr preferRelativeResize="0"/>
          <p:nvPr/>
        </p:nvPicPr>
        <p:blipFill>
          <a:blip r:embed="rId6">
            <a:alphaModFix/>
          </a:blip>
          <a:stretch>
            <a:fillRect/>
          </a:stretch>
        </p:blipFill>
        <p:spPr>
          <a:xfrm>
            <a:off x="184299" y="4356688"/>
            <a:ext cx="1560025" cy="428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Shape 157"/>
        <p:cNvGrpSpPr/>
        <p:nvPr/>
      </p:nvGrpSpPr>
      <p:grpSpPr>
        <a:xfrm>
          <a:off x="0" y="0"/>
          <a:ext cx="0" cy="0"/>
          <a:chOff x="0" y="0"/>
          <a:chExt cx="0" cy="0"/>
        </a:xfrm>
      </p:grpSpPr>
      <p:sp>
        <p:nvSpPr>
          <p:cNvPr id="158" name="Google Shape;158;p18"/>
          <p:cNvSpPr/>
          <p:nvPr/>
        </p:nvSpPr>
        <p:spPr>
          <a:xfrm>
            <a:off x="0" y="4191000"/>
            <a:ext cx="9144000" cy="952500"/>
          </a:xfrm>
          <a:custGeom>
            <a:avLst/>
            <a:gdLst/>
            <a:ahLst/>
            <a:cxnLst/>
            <a:rect l="l" t="t" r="r" b="b"/>
            <a:pathLst>
              <a:path w="120000" h="120000" extrusionOk="0">
                <a:moveTo>
                  <a:pt x="0" y="48000"/>
                </a:moveTo>
                <a:quadBezTo>
                  <a:pt x="30000" y="0"/>
                  <a:pt x="60000" y="48000"/>
                </a:quadBezTo>
                <a:lnTo>
                  <a:pt x="120000" y="48000"/>
                </a:lnTo>
                <a:lnTo>
                  <a:pt x="120000" y="120000"/>
                </a:lnTo>
                <a:lnTo>
                  <a:pt x="0" y="120000"/>
                </a:lnTo>
                <a:close/>
              </a:path>
            </a:pathLst>
          </a:custGeom>
          <a:solidFill>
            <a:srgbClr val="0B2545">
              <a:alpha val="5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1100">
              <a:solidFill>
                <a:srgbClr val="073763"/>
              </a:solidFill>
              <a:latin typeface="Inter"/>
              <a:ea typeface="Inter"/>
              <a:cs typeface="Inter"/>
              <a:sym typeface="Inter"/>
            </a:endParaRPr>
          </a:p>
        </p:txBody>
      </p:sp>
      <p:grpSp>
        <p:nvGrpSpPr>
          <p:cNvPr id="159" name="Google Shape;159;p18"/>
          <p:cNvGrpSpPr/>
          <p:nvPr/>
        </p:nvGrpSpPr>
        <p:grpSpPr>
          <a:xfrm>
            <a:off x="476250" y="285750"/>
            <a:ext cx="409575" cy="238200"/>
            <a:chOff x="95250" y="0"/>
            <a:chExt cx="409575" cy="238200"/>
          </a:xfrm>
        </p:grpSpPr>
        <p:sp>
          <p:nvSpPr>
            <p:cNvPr id="160" name="Google Shape;160;p18"/>
            <p:cNvSpPr/>
            <p:nvPr/>
          </p:nvSpPr>
          <p:spPr>
            <a:xfrm>
              <a:off x="95250" y="0"/>
              <a:ext cx="190500" cy="238200"/>
            </a:xfrm>
            <a:custGeom>
              <a:avLst/>
              <a:gdLst/>
              <a:ahLst/>
              <a:cxnLst/>
              <a:rect l="l" t="t" r="r" b="b"/>
              <a:pathLst>
                <a:path w="120000" h="120000" extrusionOk="0">
                  <a:moveTo>
                    <a:pt x="0" y="96000"/>
                  </a:moveTo>
                  <a:quadBezTo>
                    <a:pt x="30000" y="24000"/>
                    <a:pt x="90000" y="0"/>
                  </a:quadBezTo>
                  <a:quadBezTo>
                    <a:pt x="60000" y="72000"/>
                    <a:pt x="120000" y="120000"/>
                  </a:quadBezTo>
                  <a:lnTo>
                    <a:pt x="0" y="120000"/>
                  </a:lnTo>
                  <a:close/>
                </a:path>
              </a:pathLst>
            </a:cu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1" name="Google Shape;161;p18"/>
            <p:cNvSpPr/>
            <p:nvPr/>
          </p:nvSpPr>
          <p:spPr>
            <a:xfrm>
              <a:off x="333375" y="47625"/>
              <a:ext cx="38100" cy="190500"/>
            </a:xfrm>
            <a:prstGeom prst="rect">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2" name="Google Shape;162;p18"/>
            <p:cNvSpPr/>
            <p:nvPr/>
          </p:nvSpPr>
          <p:spPr>
            <a:xfrm>
              <a:off x="400050" y="114300"/>
              <a:ext cx="38100" cy="123900"/>
            </a:xfrm>
            <a:prstGeom prst="rect">
              <a:avLst/>
            </a:prstGeom>
            <a:solidFill>
              <a:srgbClr val="8DA9C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3" name="Google Shape;163;p18"/>
            <p:cNvSpPr/>
            <p:nvPr/>
          </p:nvSpPr>
          <p:spPr>
            <a:xfrm>
              <a:off x="466725" y="76200"/>
              <a:ext cx="38100" cy="162000"/>
            </a:xfrm>
            <a:prstGeom prst="rect">
              <a:avLst/>
            </a:prstGeom>
            <a:solidFill>
              <a:srgbClr val="0B254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64" name="Google Shape;164;p18"/>
          <p:cNvSpPr txBox="1"/>
          <p:nvPr/>
        </p:nvSpPr>
        <p:spPr>
          <a:xfrm>
            <a:off x="1047750" y="247650"/>
            <a:ext cx="77154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b="1">
                <a:solidFill>
                  <a:srgbClr val="0B2545"/>
                </a:solidFill>
                <a:latin typeface="Montserrat"/>
                <a:ea typeface="Montserrat"/>
                <a:cs typeface="Montserrat"/>
                <a:sym typeface="Montserrat"/>
              </a:rPr>
              <a:t>High Frequency ≠ High Severity </a:t>
            </a:r>
            <a:endParaRPr sz="2000" b="1">
              <a:solidFill>
                <a:srgbClr val="0B2545"/>
              </a:solidFill>
              <a:latin typeface="Montserrat"/>
              <a:ea typeface="Montserrat"/>
              <a:cs typeface="Montserrat"/>
              <a:sym typeface="Montserrat"/>
            </a:endParaRPr>
          </a:p>
        </p:txBody>
      </p:sp>
      <p:pic>
        <p:nvPicPr>
          <p:cNvPr id="165" name="Google Shape;165;p18"/>
          <p:cNvPicPr preferRelativeResize="0"/>
          <p:nvPr/>
        </p:nvPicPr>
        <p:blipFill rotWithShape="1">
          <a:blip r:embed="rId3">
            <a:alphaModFix/>
          </a:blip>
          <a:srcRect/>
          <a:stretch/>
        </p:blipFill>
        <p:spPr>
          <a:xfrm>
            <a:off x="381000" y="804863"/>
            <a:ext cx="8382000" cy="9600"/>
          </a:xfrm>
          <a:prstGeom prst="rect">
            <a:avLst/>
          </a:prstGeom>
          <a:noFill/>
          <a:ln>
            <a:noFill/>
          </a:ln>
        </p:spPr>
      </p:pic>
      <p:sp>
        <p:nvSpPr>
          <p:cNvPr id="166" name="Google Shape;166;p18"/>
          <p:cNvSpPr txBox="1"/>
          <p:nvPr/>
        </p:nvSpPr>
        <p:spPr>
          <a:xfrm>
            <a:off x="381000" y="933450"/>
            <a:ext cx="83820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200">
                <a:solidFill>
                  <a:srgbClr val="134074"/>
                </a:solidFill>
                <a:latin typeface="Inter SemiBold"/>
                <a:ea typeface="Inter SemiBold"/>
                <a:cs typeface="Inter SemiBold"/>
                <a:sym typeface="Inter SemiBold"/>
              </a:rPr>
              <a:t>H2: Which activities are associated with the most recorded shark incidents, and how severe are the outcomes? </a:t>
            </a:r>
            <a:endParaRPr sz="1200" b="0">
              <a:solidFill>
                <a:srgbClr val="134074"/>
              </a:solidFill>
              <a:latin typeface="Inter SemiBold"/>
              <a:ea typeface="Inter SemiBold"/>
              <a:cs typeface="Inter SemiBold"/>
              <a:sym typeface="Inter SemiBold"/>
            </a:endParaRPr>
          </a:p>
        </p:txBody>
      </p:sp>
      <p:pic>
        <p:nvPicPr>
          <p:cNvPr id="167" name="Google Shape;167;p18" title="ChatGPT Image 24 Sept 2026, 16_01_33.png"/>
          <p:cNvPicPr preferRelativeResize="0"/>
          <p:nvPr/>
        </p:nvPicPr>
        <p:blipFill>
          <a:blip r:embed="rId4">
            <a:alphaModFix/>
          </a:blip>
          <a:stretch>
            <a:fillRect/>
          </a:stretch>
        </p:blipFill>
        <p:spPr>
          <a:xfrm>
            <a:off x="381000" y="1238325"/>
            <a:ext cx="5912798" cy="3327724"/>
          </a:xfrm>
          <a:prstGeom prst="rect">
            <a:avLst/>
          </a:prstGeom>
          <a:noFill/>
          <a:ln>
            <a:noFill/>
          </a:ln>
        </p:spPr>
      </p:pic>
      <p:sp>
        <p:nvSpPr>
          <p:cNvPr id="168" name="Google Shape;168;p18"/>
          <p:cNvSpPr txBox="1"/>
          <p:nvPr/>
        </p:nvSpPr>
        <p:spPr>
          <a:xfrm>
            <a:off x="6293800" y="1238325"/>
            <a:ext cx="2850000" cy="1831800"/>
          </a:xfrm>
          <a:prstGeom prst="rect">
            <a:avLst/>
          </a:prstGeom>
          <a:noFill/>
          <a:ln>
            <a:noFill/>
          </a:ln>
        </p:spPr>
        <p:txBody>
          <a:bodyPr spcFirstLastPara="1" wrap="square" lIns="91425" tIns="91425" rIns="91425" bIns="91425" anchor="ctr" anchorCtr="0">
            <a:spAutoFit/>
          </a:bodyPr>
          <a:lstStyle/>
          <a:p>
            <a:pPr marL="0" marR="0" lvl="0" indent="0" algn="r" rtl="0">
              <a:lnSpc>
                <a:spcPct val="100000"/>
              </a:lnSpc>
              <a:spcBef>
                <a:spcPts val="0"/>
              </a:spcBef>
              <a:spcAft>
                <a:spcPts val="0"/>
              </a:spcAft>
              <a:buNone/>
            </a:pPr>
            <a:r>
              <a:rPr lang="en-GB" sz="1000">
                <a:solidFill>
                  <a:srgbClr val="134074"/>
                </a:solidFill>
                <a:latin typeface="Inter SemiBold"/>
                <a:ea typeface="Inter SemiBold"/>
                <a:cs typeface="Inter SemiBold"/>
                <a:sym typeface="Inter SemiBold"/>
              </a:rPr>
              <a:t>Surfing = highest frequency</a:t>
            </a:r>
            <a:r>
              <a:rPr lang="en-GB" sz="1200">
                <a:solidFill>
                  <a:srgbClr val="134074"/>
                </a:solidFill>
                <a:latin typeface="Inter SemiBold"/>
                <a:ea typeface="Inter SemiBold"/>
                <a:cs typeface="Inter SemiBold"/>
                <a:sym typeface="Inter SemiBold"/>
              </a:rPr>
              <a:t> </a:t>
            </a:r>
            <a:endParaRPr sz="1200">
              <a:solidFill>
                <a:srgbClr val="134074"/>
              </a:solidFill>
              <a:latin typeface="Inter SemiBold"/>
              <a:ea typeface="Inter SemiBold"/>
              <a:cs typeface="Inter SemiBold"/>
              <a:sym typeface="Inter SemiBold"/>
            </a:endParaRPr>
          </a:p>
          <a:p>
            <a:pPr marL="0" lvl="0" indent="0" algn="r" rtl="0">
              <a:spcBef>
                <a:spcPts val="0"/>
              </a:spcBef>
              <a:spcAft>
                <a:spcPts val="0"/>
              </a:spcAft>
              <a:buNone/>
            </a:pPr>
            <a:r>
              <a:rPr lang="en-GB" sz="800">
                <a:solidFill>
                  <a:srgbClr val="4A6582"/>
                </a:solidFill>
                <a:latin typeface="Inter"/>
                <a:ea typeface="Inter"/>
                <a:cs typeface="Inter"/>
                <a:sym typeface="Inter"/>
              </a:rPr>
              <a:t>1,098 incidents / 27.5% of all recorded cases</a:t>
            </a:r>
            <a:endParaRPr sz="800">
              <a:solidFill>
                <a:srgbClr val="4A6582"/>
              </a:solidFill>
              <a:latin typeface="Inter"/>
              <a:ea typeface="Inter"/>
              <a:cs typeface="Inter"/>
              <a:sym typeface="Inter"/>
            </a:endParaRPr>
          </a:p>
          <a:p>
            <a:pPr marL="0" lvl="0" indent="0" algn="r" rtl="0">
              <a:spcBef>
                <a:spcPts val="0"/>
              </a:spcBef>
              <a:spcAft>
                <a:spcPts val="0"/>
              </a:spcAft>
              <a:buNone/>
            </a:pPr>
            <a:endParaRPr sz="800">
              <a:solidFill>
                <a:srgbClr val="4A6582"/>
              </a:solidFill>
              <a:latin typeface="Inter"/>
              <a:ea typeface="Inter"/>
              <a:cs typeface="Inter"/>
              <a:sym typeface="Inter"/>
            </a:endParaRPr>
          </a:p>
          <a:p>
            <a:pPr marL="0" lvl="0" indent="0" algn="l" rtl="0">
              <a:spcBef>
                <a:spcPts val="0"/>
              </a:spcBef>
              <a:spcAft>
                <a:spcPts val="0"/>
              </a:spcAft>
              <a:buNone/>
            </a:pPr>
            <a:endParaRPr sz="800">
              <a:solidFill>
                <a:srgbClr val="4A6582"/>
              </a:solidFill>
              <a:latin typeface="Inter"/>
              <a:ea typeface="Inter"/>
              <a:cs typeface="Inter"/>
              <a:sym typeface="Inter"/>
            </a:endParaRPr>
          </a:p>
          <a:p>
            <a:pPr marL="0" lvl="0" indent="0" algn="r" rtl="0">
              <a:spcBef>
                <a:spcPts val="0"/>
              </a:spcBef>
              <a:spcAft>
                <a:spcPts val="0"/>
              </a:spcAft>
              <a:buNone/>
            </a:pPr>
            <a:r>
              <a:rPr lang="en-GB" sz="1000">
                <a:solidFill>
                  <a:srgbClr val="134074"/>
                </a:solidFill>
                <a:latin typeface="Inter SemiBold"/>
                <a:ea typeface="Inter SemiBold"/>
                <a:cs typeface="Inter SemiBold"/>
                <a:sym typeface="Inter SemiBold"/>
              </a:rPr>
              <a:t>Body boarding = highest severity</a:t>
            </a:r>
            <a:r>
              <a:rPr lang="en-GB" sz="1200">
                <a:solidFill>
                  <a:srgbClr val="134074"/>
                </a:solidFill>
                <a:latin typeface="Inter SemiBold"/>
                <a:ea typeface="Inter SemiBold"/>
                <a:cs typeface="Inter SemiBold"/>
                <a:sym typeface="Inter SemiBold"/>
              </a:rPr>
              <a:t> </a:t>
            </a:r>
            <a:endParaRPr sz="1200">
              <a:solidFill>
                <a:srgbClr val="134074"/>
              </a:solidFill>
              <a:latin typeface="Inter SemiBold"/>
              <a:ea typeface="Inter SemiBold"/>
              <a:cs typeface="Inter SemiBold"/>
              <a:sym typeface="Inter SemiBold"/>
            </a:endParaRPr>
          </a:p>
          <a:p>
            <a:pPr marL="0" lvl="0" indent="0" algn="r" rtl="0">
              <a:spcBef>
                <a:spcPts val="0"/>
              </a:spcBef>
              <a:spcAft>
                <a:spcPts val="0"/>
              </a:spcAft>
              <a:buNone/>
            </a:pPr>
            <a:r>
              <a:rPr lang="en-GB" sz="800">
                <a:solidFill>
                  <a:srgbClr val="4A6582"/>
                </a:solidFill>
                <a:latin typeface="Inter"/>
                <a:ea typeface="Inter"/>
                <a:cs typeface="Inter"/>
                <a:sym typeface="Inter"/>
              </a:rPr>
              <a:t>41.3% severe or fatal outcomes</a:t>
            </a:r>
            <a:endParaRPr sz="800">
              <a:solidFill>
                <a:srgbClr val="4A6582"/>
              </a:solidFill>
              <a:latin typeface="Inter"/>
              <a:ea typeface="Inter"/>
              <a:cs typeface="Inter"/>
              <a:sym typeface="Inter"/>
            </a:endParaRPr>
          </a:p>
          <a:p>
            <a:pPr marL="0" lvl="0" indent="0" algn="r" rtl="0">
              <a:spcBef>
                <a:spcPts val="0"/>
              </a:spcBef>
              <a:spcAft>
                <a:spcPts val="0"/>
              </a:spcAft>
              <a:buNone/>
            </a:pPr>
            <a:endParaRPr sz="800">
              <a:solidFill>
                <a:srgbClr val="4A6582"/>
              </a:solidFill>
              <a:latin typeface="Inter"/>
              <a:ea typeface="Inter"/>
              <a:cs typeface="Inter"/>
              <a:sym typeface="Inter"/>
            </a:endParaRPr>
          </a:p>
          <a:p>
            <a:pPr marL="0" lvl="0" indent="0" algn="r" rtl="0">
              <a:spcBef>
                <a:spcPts val="0"/>
              </a:spcBef>
              <a:spcAft>
                <a:spcPts val="0"/>
              </a:spcAft>
              <a:buNone/>
            </a:pPr>
            <a:endParaRPr sz="800">
              <a:solidFill>
                <a:srgbClr val="4A6582"/>
              </a:solidFill>
              <a:latin typeface="Inter"/>
              <a:ea typeface="Inter"/>
              <a:cs typeface="Inter"/>
              <a:sym typeface="Inter"/>
            </a:endParaRPr>
          </a:p>
          <a:p>
            <a:pPr marL="0" lvl="0" indent="0" algn="r" rtl="0">
              <a:spcBef>
                <a:spcPts val="0"/>
              </a:spcBef>
              <a:spcAft>
                <a:spcPts val="0"/>
              </a:spcAft>
              <a:buNone/>
            </a:pPr>
            <a:r>
              <a:rPr lang="en-GB" sz="1000">
                <a:solidFill>
                  <a:srgbClr val="134074"/>
                </a:solidFill>
                <a:latin typeface="Inter SemiBold"/>
                <a:ea typeface="Inter SemiBold"/>
                <a:cs typeface="Inter SemiBold"/>
                <a:sym typeface="Inter SemiBold"/>
              </a:rPr>
              <a:t>Swimming = key combined concern</a:t>
            </a:r>
            <a:r>
              <a:rPr lang="en-GB" sz="1200">
                <a:solidFill>
                  <a:srgbClr val="134074"/>
                </a:solidFill>
                <a:latin typeface="Inter SemiBold"/>
                <a:ea typeface="Inter SemiBold"/>
                <a:cs typeface="Inter SemiBold"/>
                <a:sym typeface="Inter SemiBold"/>
              </a:rPr>
              <a:t>  </a:t>
            </a:r>
            <a:endParaRPr sz="1200">
              <a:solidFill>
                <a:srgbClr val="134074"/>
              </a:solidFill>
              <a:latin typeface="Inter SemiBold"/>
              <a:ea typeface="Inter SemiBold"/>
              <a:cs typeface="Inter SemiBold"/>
              <a:sym typeface="Inter SemiBold"/>
            </a:endParaRPr>
          </a:p>
          <a:p>
            <a:pPr marL="0" lvl="0" indent="0" algn="r" rtl="0">
              <a:spcBef>
                <a:spcPts val="0"/>
              </a:spcBef>
              <a:spcAft>
                <a:spcPts val="0"/>
              </a:spcAft>
              <a:buClr>
                <a:schemeClr val="dk1"/>
              </a:buClr>
              <a:buSzPts val="1100"/>
              <a:buFont typeface="Arial"/>
              <a:buNone/>
            </a:pPr>
            <a:r>
              <a:rPr lang="en-GB" sz="800">
                <a:solidFill>
                  <a:srgbClr val="4A6582"/>
                </a:solidFill>
                <a:latin typeface="Inter"/>
                <a:ea typeface="Inter"/>
                <a:cs typeface="Inter"/>
                <a:sym typeface="Inter"/>
              </a:rPr>
              <a:t>High frequency + 22.5% severe/fatal outcomes</a:t>
            </a:r>
            <a:r>
              <a:rPr lang="en-GB" sz="1100">
                <a:solidFill>
                  <a:srgbClr val="4A6582"/>
                </a:solidFill>
                <a:latin typeface="Inter"/>
                <a:ea typeface="Inter"/>
                <a:cs typeface="Inter"/>
                <a:sym typeface="Inter"/>
              </a:rPr>
              <a:t>   </a:t>
            </a:r>
            <a:r>
              <a:rPr lang="en-GB" sz="800">
                <a:solidFill>
                  <a:srgbClr val="4A6582"/>
                </a:solidFill>
                <a:latin typeface="Inter"/>
                <a:ea typeface="Inter"/>
                <a:cs typeface="Inter"/>
                <a:sym typeface="Inter"/>
              </a:rPr>
              <a:t> </a:t>
            </a:r>
            <a:endParaRPr sz="800">
              <a:solidFill>
                <a:srgbClr val="4A6582"/>
              </a:solidFill>
              <a:latin typeface="Inter"/>
              <a:ea typeface="Inter"/>
              <a:cs typeface="Inter"/>
              <a:sym typeface="Inter"/>
            </a:endParaRPr>
          </a:p>
          <a:p>
            <a:pPr marL="0" marR="0" lvl="0" indent="0" algn="l" rtl="0">
              <a:lnSpc>
                <a:spcPct val="100000"/>
              </a:lnSpc>
              <a:spcBef>
                <a:spcPts val="0"/>
              </a:spcBef>
              <a:spcAft>
                <a:spcPts val="0"/>
              </a:spcAft>
              <a:buNone/>
            </a:pPr>
            <a:endParaRPr sz="1200">
              <a:solidFill>
                <a:srgbClr val="134074"/>
              </a:solidFill>
              <a:latin typeface="Inter SemiBold"/>
              <a:ea typeface="Inter SemiBold"/>
              <a:cs typeface="Inter SemiBold"/>
              <a:sym typeface="Inter SemiBold"/>
            </a:endParaRPr>
          </a:p>
        </p:txBody>
      </p:sp>
      <p:sp>
        <p:nvSpPr>
          <p:cNvPr id="169" name="Google Shape;169;p18"/>
          <p:cNvSpPr txBox="1"/>
          <p:nvPr/>
        </p:nvSpPr>
        <p:spPr>
          <a:xfrm>
            <a:off x="6293800" y="3685470"/>
            <a:ext cx="2850000" cy="1054200"/>
          </a:xfrm>
          <a:prstGeom prst="rect">
            <a:avLst/>
          </a:prstGeom>
          <a:noFill/>
          <a:ln>
            <a:noFill/>
          </a:ln>
        </p:spPr>
        <p:txBody>
          <a:bodyPr spcFirstLastPara="1" wrap="square" lIns="91425" tIns="91425" rIns="91425" bIns="91425" anchor="ctr" anchorCtr="0">
            <a:spAutoFit/>
          </a:bodyPr>
          <a:lstStyle/>
          <a:p>
            <a:pPr marL="0" marR="0" lvl="0" indent="0" algn="r" rtl="0">
              <a:lnSpc>
                <a:spcPct val="100000"/>
              </a:lnSpc>
              <a:spcBef>
                <a:spcPts val="0"/>
              </a:spcBef>
              <a:spcAft>
                <a:spcPts val="0"/>
              </a:spcAft>
              <a:buNone/>
            </a:pPr>
            <a:r>
              <a:rPr lang="en-GB" sz="1000">
                <a:solidFill>
                  <a:srgbClr val="4A6582"/>
                </a:solidFill>
                <a:latin typeface="Inter"/>
                <a:ea typeface="Inter"/>
                <a:cs typeface="Inter"/>
                <a:sym typeface="Inter"/>
              </a:rPr>
              <a:t>Business implication:</a:t>
            </a:r>
            <a:endParaRPr sz="1000">
              <a:solidFill>
                <a:srgbClr val="4A6582"/>
              </a:solidFill>
              <a:latin typeface="Inter"/>
              <a:ea typeface="Inter"/>
              <a:cs typeface="Inter"/>
              <a:sym typeface="Inter"/>
            </a:endParaRPr>
          </a:p>
          <a:p>
            <a:pPr marL="0" lvl="0" indent="0" algn="r" rtl="0">
              <a:lnSpc>
                <a:spcPct val="115000"/>
              </a:lnSpc>
              <a:spcBef>
                <a:spcPts val="0"/>
              </a:spcBef>
              <a:spcAft>
                <a:spcPts val="0"/>
              </a:spcAft>
              <a:buNone/>
            </a:pPr>
            <a:r>
              <a:rPr lang="en-GB" sz="1000">
                <a:solidFill>
                  <a:srgbClr val="0B2545"/>
                </a:solidFill>
                <a:latin typeface="Inter SemiBold"/>
                <a:ea typeface="Inter SemiBold"/>
                <a:cs typeface="Inter SemiBold"/>
                <a:sym typeface="Inter SemiBold"/>
              </a:rPr>
              <a:t>SharkSafe should use activity-specific safety protocols — frequency alone is not enough to assess safety. </a:t>
            </a:r>
            <a:endParaRPr sz="900">
              <a:solidFill>
                <a:srgbClr val="0B2545"/>
              </a:solidFill>
              <a:latin typeface="Inter"/>
              <a:ea typeface="Inter"/>
              <a:cs typeface="Inter"/>
              <a:sym typeface="Inter"/>
            </a:endParaRPr>
          </a:p>
          <a:p>
            <a:pPr marL="0" marR="0" lvl="0" indent="0" algn="l" rtl="0">
              <a:lnSpc>
                <a:spcPct val="100000"/>
              </a:lnSpc>
              <a:spcBef>
                <a:spcPts val="0"/>
              </a:spcBef>
              <a:spcAft>
                <a:spcPts val="0"/>
              </a:spcAft>
              <a:buNone/>
            </a:pPr>
            <a:endParaRPr sz="1200">
              <a:solidFill>
                <a:srgbClr val="134074"/>
              </a:solidFill>
              <a:latin typeface="Inter SemiBold"/>
              <a:ea typeface="Inter SemiBold"/>
              <a:cs typeface="Inter SemiBold"/>
              <a:sym typeface="Inter SemiBold"/>
            </a:endParaRPr>
          </a:p>
        </p:txBody>
      </p:sp>
      <p:sp>
        <p:nvSpPr>
          <p:cNvPr id="170" name="Google Shape;170;p18"/>
          <p:cNvSpPr txBox="1"/>
          <p:nvPr/>
        </p:nvSpPr>
        <p:spPr>
          <a:xfrm>
            <a:off x="1783200" y="4739675"/>
            <a:ext cx="55776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800">
                <a:solidFill>
                  <a:srgbClr val="4A6582"/>
                </a:solidFill>
                <a:latin typeface="Inter"/>
                <a:ea typeface="Inter"/>
                <a:cs typeface="Inter"/>
                <a:sym typeface="Inter"/>
              </a:rPr>
              <a:t>Top 10 activities analyzed. Fatality % excludes unknown outcomes. Recorded incidents ≠ true participant risk.</a:t>
            </a:r>
            <a:r>
              <a:rPr lang="en-GB" sz="1100">
                <a:solidFill>
                  <a:srgbClr val="4A6582"/>
                </a:solidFill>
                <a:latin typeface="Inter"/>
                <a:ea typeface="Inter"/>
                <a:cs typeface="Inter"/>
                <a:sym typeface="Inter"/>
              </a:rPr>
              <a:t> </a:t>
            </a:r>
            <a:endParaRPr sz="1100">
              <a:solidFill>
                <a:srgbClr val="4A6582"/>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Shape 174"/>
        <p:cNvGrpSpPr/>
        <p:nvPr/>
      </p:nvGrpSpPr>
      <p:grpSpPr>
        <a:xfrm>
          <a:off x="0" y="0"/>
          <a:ext cx="0" cy="0"/>
          <a:chOff x="0" y="0"/>
          <a:chExt cx="0" cy="0"/>
        </a:xfrm>
      </p:grpSpPr>
      <p:sp>
        <p:nvSpPr>
          <p:cNvPr id="175" name="Google Shape;175;p19"/>
          <p:cNvSpPr/>
          <p:nvPr/>
        </p:nvSpPr>
        <p:spPr>
          <a:xfrm>
            <a:off x="0" y="4191000"/>
            <a:ext cx="9144000" cy="952500"/>
          </a:xfrm>
          <a:custGeom>
            <a:avLst/>
            <a:gdLst/>
            <a:ahLst/>
            <a:cxnLst/>
            <a:rect l="l" t="t" r="r" b="b"/>
            <a:pathLst>
              <a:path w="120000" h="120000" extrusionOk="0">
                <a:moveTo>
                  <a:pt x="0" y="48000"/>
                </a:moveTo>
                <a:quadBezTo>
                  <a:pt x="30000" y="0"/>
                  <a:pt x="60000" y="48000"/>
                </a:quadBezTo>
                <a:lnTo>
                  <a:pt x="120000" y="48000"/>
                </a:lnTo>
                <a:lnTo>
                  <a:pt x="120000" y="120000"/>
                </a:lnTo>
                <a:lnTo>
                  <a:pt x="0" y="120000"/>
                </a:lnTo>
                <a:close/>
              </a:path>
            </a:pathLst>
          </a:custGeom>
          <a:solidFill>
            <a:srgbClr val="0B2545">
              <a:alpha val="5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76" name="Google Shape;176;p19"/>
          <p:cNvGrpSpPr/>
          <p:nvPr/>
        </p:nvGrpSpPr>
        <p:grpSpPr>
          <a:xfrm>
            <a:off x="476250" y="266700"/>
            <a:ext cx="409575" cy="238200"/>
            <a:chOff x="95250" y="0"/>
            <a:chExt cx="409575" cy="238200"/>
          </a:xfrm>
        </p:grpSpPr>
        <p:sp>
          <p:nvSpPr>
            <p:cNvPr id="177" name="Google Shape;177;p19"/>
            <p:cNvSpPr/>
            <p:nvPr/>
          </p:nvSpPr>
          <p:spPr>
            <a:xfrm>
              <a:off x="95250" y="0"/>
              <a:ext cx="190500" cy="238200"/>
            </a:xfrm>
            <a:custGeom>
              <a:avLst/>
              <a:gdLst/>
              <a:ahLst/>
              <a:cxnLst/>
              <a:rect l="l" t="t" r="r" b="b"/>
              <a:pathLst>
                <a:path w="120000" h="120000" extrusionOk="0">
                  <a:moveTo>
                    <a:pt x="0" y="96000"/>
                  </a:moveTo>
                  <a:quadBezTo>
                    <a:pt x="30000" y="24000"/>
                    <a:pt x="90000" y="0"/>
                  </a:quadBezTo>
                  <a:quadBezTo>
                    <a:pt x="60000" y="72000"/>
                    <a:pt x="120000" y="120000"/>
                  </a:quadBezTo>
                  <a:lnTo>
                    <a:pt x="0" y="120000"/>
                  </a:lnTo>
                  <a:close/>
                </a:path>
              </a:pathLst>
            </a:cu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8" name="Google Shape;178;p19"/>
            <p:cNvSpPr/>
            <p:nvPr/>
          </p:nvSpPr>
          <p:spPr>
            <a:xfrm>
              <a:off x="333375" y="47625"/>
              <a:ext cx="38100" cy="190500"/>
            </a:xfrm>
            <a:prstGeom prst="rect">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9" name="Google Shape;179;p19"/>
            <p:cNvSpPr/>
            <p:nvPr/>
          </p:nvSpPr>
          <p:spPr>
            <a:xfrm>
              <a:off x="400050" y="114300"/>
              <a:ext cx="38100" cy="123900"/>
            </a:xfrm>
            <a:prstGeom prst="rect">
              <a:avLst/>
            </a:prstGeom>
            <a:solidFill>
              <a:srgbClr val="8DA9C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0" name="Google Shape;180;p19"/>
            <p:cNvSpPr/>
            <p:nvPr/>
          </p:nvSpPr>
          <p:spPr>
            <a:xfrm>
              <a:off x="466725" y="76200"/>
              <a:ext cx="38100" cy="162000"/>
            </a:xfrm>
            <a:prstGeom prst="rect">
              <a:avLst/>
            </a:prstGeom>
            <a:solidFill>
              <a:srgbClr val="0B254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81" name="Google Shape;181;p19"/>
          <p:cNvSpPr txBox="1"/>
          <p:nvPr/>
        </p:nvSpPr>
        <p:spPr>
          <a:xfrm>
            <a:off x="1047750" y="238125"/>
            <a:ext cx="7715400" cy="523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800" b="1">
                <a:solidFill>
                  <a:srgbClr val="0B2545"/>
                </a:solidFill>
                <a:latin typeface="Montserrat"/>
                <a:ea typeface="Montserrat"/>
                <a:cs typeface="Montserrat"/>
                <a:sym typeface="Montserrat"/>
              </a:rPr>
              <a:t>Shark-Watching Destinations: Low-Fatality Encounter Hotspots</a:t>
            </a:r>
            <a:endParaRPr sz="1800" b="1">
              <a:solidFill>
                <a:srgbClr val="0B2545"/>
              </a:solidFill>
              <a:latin typeface="Montserrat"/>
              <a:ea typeface="Montserrat"/>
              <a:cs typeface="Montserrat"/>
              <a:sym typeface="Montserrat"/>
            </a:endParaRPr>
          </a:p>
        </p:txBody>
      </p:sp>
      <p:pic>
        <p:nvPicPr>
          <p:cNvPr id="182" name="Google Shape;182;p19"/>
          <p:cNvPicPr preferRelativeResize="0"/>
          <p:nvPr/>
        </p:nvPicPr>
        <p:blipFill rotWithShape="1">
          <a:blip r:embed="rId3">
            <a:alphaModFix/>
          </a:blip>
          <a:srcRect/>
          <a:stretch/>
        </p:blipFill>
        <p:spPr>
          <a:xfrm>
            <a:off x="381000" y="833438"/>
            <a:ext cx="8382000" cy="9600"/>
          </a:xfrm>
          <a:prstGeom prst="rect">
            <a:avLst/>
          </a:prstGeom>
          <a:noFill/>
          <a:ln>
            <a:noFill/>
          </a:ln>
        </p:spPr>
      </p:pic>
      <p:sp>
        <p:nvSpPr>
          <p:cNvPr id="183" name="Google Shape;183;p19"/>
          <p:cNvSpPr txBox="1"/>
          <p:nvPr/>
        </p:nvSpPr>
        <p:spPr>
          <a:xfrm>
            <a:off x="4657650" y="1095375"/>
            <a:ext cx="3962400" cy="1467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Clr>
                <a:schemeClr val="dk1"/>
              </a:buClr>
              <a:buSzPts val="1100"/>
              <a:buFont typeface="Arial"/>
              <a:buNone/>
            </a:pPr>
            <a:r>
              <a:rPr lang="en-GB" sz="1000" b="1">
                <a:solidFill>
                  <a:schemeClr val="dk2"/>
                </a:solidFill>
                <a:highlight>
                  <a:srgbClr val="FFFFFF"/>
                </a:highlight>
              </a:rPr>
              <a:t>T</a:t>
            </a:r>
            <a:r>
              <a:rPr lang="en-GB" sz="1000" b="1">
                <a:solidFill>
                  <a:schemeClr val="dk2"/>
                </a:solidFill>
              </a:rPr>
              <a:t>esting the Hypothesis</a:t>
            </a:r>
            <a:endParaRPr sz="1000" b="1">
              <a:solidFill>
                <a:schemeClr val="dk2"/>
              </a:solidFill>
            </a:endParaRPr>
          </a:p>
          <a:p>
            <a:pPr marL="0" lvl="0" indent="0" algn="l" rtl="0">
              <a:lnSpc>
                <a:spcPct val="115000"/>
              </a:lnSpc>
              <a:spcBef>
                <a:spcPts val="600"/>
              </a:spcBef>
              <a:spcAft>
                <a:spcPts val="0"/>
              </a:spcAft>
              <a:buClr>
                <a:schemeClr val="dk1"/>
              </a:buClr>
              <a:buSzPts val="1100"/>
              <a:buFont typeface="Arial"/>
              <a:buNone/>
            </a:pPr>
            <a:r>
              <a:rPr lang="en-GB" sz="1000">
                <a:solidFill>
                  <a:schemeClr val="dk2"/>
                </a:solidFill>
              </a:rPr>
              <a:t>The analysis of locations meeting the criteria for frequent incidents (more than 20 incidents) and low fatality rates (less than 10%) reveals that:</a:t>
            </a:r>
            <a:endParaRPr sz="1000">
              <a:solidFill>
                <a:schemeClr val="dk2"/>
              </a:solidFill>
            </a:endParaRPr>
          </a:p>
          <a:p>
            <a:pPr marL="457200" lvl="0" indent="-292100" algn="l" rtl="0">
              <a:lnSpc>
                <a:spcPct val="115000"/>
              </a:lnSpc>
              <a:spcBef>
                <a:spcPts val="600"/>
              </a:spcBef>
              <a:spcAft>
                <a:spcPts val="0"/>
              </a:spcAft>
              <a:buClr>
                <a:schemeClr val="dk2"/>
              </a:buClr>
              <a:buSzPts val="1000"/>
              <a:buChar char="●"/>
            </a:pPr>
            <a:r>
              <a:rPr lang="en-GB" sz="1000" b="1">
                <a:solidFill>
                  <a:schemeClr val="dk2"/>
                </a:solidFill>
              </a:rPr>
              <a:t>New Smyrna Beach, Volusia County</a:t>
            </a:r>
            <a:r>
              <a:rPr lang="en-GB" sz="1000">
                <a:solidFill>
                  <a:schemeClr val="dk2"/>
                </a:solidFill>
              </a:rPr>
              <a:t> stands out with the highest number of recorded incidents (190), but with a </a:t>
            </a:r>
            <a:r>
              <a:rPr lang="en-GB" sz="1000" b="1">
                <a:solidFill>
                  <a:schemeClr val="dk2"/>
                </a:solidFill>
              </a:rPr>
              <a:t>0.0% fatality rate</a:t>
            </a:r>
            <a:r>
              <a:rPr lang="en-GB" sz="1000">
                <a:solidFill>
                  <a:schemeClr val="dk2"/>
                </a:solidFill>
              </a:rPr>
              <a:t>, making it the leading candidate under this hypothesis.</a:t>
            </a:r>
            <a:endParaRPr sz="1000">
              <a:solidFill>
                <a:schemeClr val="dk2"/>
              </a:solidFill>
            </a:endParaRPr>
          </a:p>
          <a:p>
            <a:pPr marL="457200" lvl="0" indent="-292100" algn="l" rtl="0">
              <a:lnSpc>
                <a:spcPct val="115000"/>
              </a:lnSpc>
              <a:spcBef>
                <a:spcPts val="0"/>
              </a:spcBef>
              <a:spcAft>
                <a:spcPts val="0"/>
              </a:spcAft>
              <a:buClr>
                <a:schemeClr val="dk2"/>
              </a:buClr>
              <a:buSzPts val="1000"/>
              <a:buChar char="●"/>
            </a:pPr>
            <a:r>
              <a:rPr lang="en-GB" sz="1000">
                <a:solidFill>
                  <a:schemeClr val="dk2"/>
                </a:solidFill>
              </a:rPr>
              <a:t>Other locations, such as </a:t>
            </a:r>
            <a:r>
              <a:rPr lang="en-GB" sz="1000" b="1">
                <a:solidFill>
                  <a:schemeClr val="dk2"/>
                </a:solidFill>
              </a:rPr>
              <a:t>Daytona Beach, Volusia County</a:t>
            </a:r>
            <a:r>
              <a:rPr lang="en-GB" sz="1000">
                <a:solidFill>
                  <a:schemeClr val="dk2"/>
                </a:solidFill>
              </a:rPr>
              <a:t> (34 incidents, 0.0% fatality), </a:t>
            </a:r>
            <a:r>
              <a:rPr lang="en-GB" sz="1000" b="1">
                <a:solidFill>
                  <a:schemeClr val="dk2"/>
                </a:solidFill>
              </a:rPr>
              <a:t>Ponce Inlet, Volusia County</a:t>
            </a:r>
            <a:r>
              <a:rPr lang="en-GB" sz="1000">
                <a:solidFill>
                  <a:schemeClr val="dk2"/>
                </a:solidFill>
              </a:rPr>
              <a:t> (28 incidents, 0.0% fatality), </a:t>
            </a:r>
            <a:r>
              <a:rPr lang="en-GB" sz="1000" b="1">
                <a:solidFill>
                  <a:schemeClr val="dk2"/>
                </a:solidFill>
              </a:rPr>
              <a:t>Myrtle Beach, Horry County</a:t>
            </a:r>
            <a:r>
              <a:rPr lang="en-GB" sz="1000">
                <a:solidFill>
                  <a:schemeClr val="dk2"/>
                </a:solidFill>
              </a:rPr>
              <a:t> (21 incidents, 0.0% fatality), and </a:t>
            </a:r>
            <a:r>
              <a:rPr lang="en-GB" sz="1000" b="1">
                <a:solidFill>
                  <a:schemeClr val="dk2"/>
                </a:solidFill>
              </a:rPr>
              <a:t>Melbourne Beach, Brevard County</a:t>
            </a:r>
            <a:r>
              <a:rPr lang="en-GB" sz="1000">
                <a:solidFill>
                  <a:schemeClr val="dk2"/>
                </a:solidFill>
              </a:rPr>
              <a:t> (20 incidents, 0.0% fatality), also meet these criteria.</a:t>
            </a:r>
            <a:endParaRPr sz="1000">
              <a:solidFill>
                <a:schemeClr val="dk2"/>
              </a:solidFill>
            </a:endParaRPr>
          </a:p>
          <a:p>
            <a:pPr marL="0" lvl="0" indent="0" algn="l" rtl="0">
              <a:lnSpc>
                <a:spcPct val="115000"/>
              </a:lnSpc>
              <a:spcBef>
                <a:spcPts val="600"/>
              </a:spcBef>
              <a:spcAft>
                <a:spcPts val="0"/>
              </a:spcAft>
              <a:buClr>
                <a:schemeClr val="dk1"/>
              </a:buClr>
              <a:buSzPts val="1100"/>
              <a:buFont typeface="Arial"/>
              <a:buNone/>
            </a:pPr>
            <a:r>
              <a:rPr lang="en-GB" sz="1000">
                <a:solidFill>
                  <a:schemeClr val="dk2"/>
                </a:solidFill>
              </a:rPr>
              <a:t>These findings suggest that there are indeed locations where the frequency of encounters is high while fatality rates are zero or very low, supporting the premise of the hypothesis for the potential development of controlled shark observation tourism.</a:t>
            </a:r>
            <a:endParaRPr sz="1000">
              <a:solidFill>
                <a:schemeClr val="dk2"/>
              </a:solidFill>
            </a:endParaRPr>
          </a:p>
          <a:p>
            <a:pPr marL="0" lvl="0" indent="0" algn="l" rtl="0">
              <a:spcBef>
                <a:spcPts val="600"/>
              </a:spcBef>
              <a:spcAft>
                <a:spcPts val="0"/>
              </a:spcAft>
              <a:buNone/>
            </a:pPr>
            <a:endParaRPr sz="800">
              <a:solidFill>
                <a:srgbClr val="134074"/>
              </a:solidFill>
              <a:latin typeface="Montserrat SemiBold"/>
              <a:ea typeface="Montserrat SemiBold"/>
              <a:cs typeface="Montserrat SemiBold"/>
              <a:sym typeface="Montserrat SemiBold"/>
            </a:endParaRPr>
          </a:p>
        </p:txBody>
      </p:sp>
      <p:sp>
        <p:nvSpPr>
          <p:cNvPr id="184" name="Google Shape;184;p19"/>
          <p:cNvSpPr/>
          <p:nvPr/>
        </p:nvSpPr>
        <p:spPr>
          <a:xfrm>
            <a:off x="381000" y="2957625"/>
            <a:ext cx="3962400" cy="1857300"/>
          </a:xfrm>
          <a:prstGeom prst="roundRect">
            <a:avLst>
              <a:gd name="adj" fmla="val 2051"/>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5" name="Google Shape;185;p19"/>
          <p:cNvSpPr txBox="1"/>
          <p:nvPr/>
        </p:nvSpPr>
        <p:spPr>
          <a:xfrm>
            <a:off x="523875" y="2933700"/>
            <a:ext cx="3810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100" b="0">
                <a:solidFill>
                  <a:srgbClr val="0B2545"/>
                </a:solidFill>
                <a:latin typeface="Montserrat SemiBold"/>
                <a:ea typeface="Montserrat SemiBold"/>
                <a:cs typeface="Montserrat SemiBold"/>
                <a:sym typeface="Montserrat SemiBold"/>
              </a:rPr>
              <a:t>Regional Encounter vs. Fatality Comparison</a:t>
            </a:r>
            <a:endParaRPr sz="1100" b="0">
              <a:solidFill>
                <a:srgbClr val="0B2545"/>
              </a:solidFill>
              <a:latin typeface="Montserrat SemiBold"/>
              <a:ea typeface="Montserrat SemiBold"/>
              <a:cs typeface="Montserrat SemiBold"/>
              <a:sym typeface="Montserrat SemiBold"/>
            </a:endParaRPr>
          </a:p>
        </p:txBody>
      </p:sp>
      <p:sp>
        <p:nvSpPr>
          <p:cNvPr id="186" name="Google Shape;186;p19"/>
          <p:cNvSpPr txBox="1"/>
          <p:nvPr/>
        </p:nvSpPr>
        <p:spPr>
          <a:xfrm>
            <a:off x="523875" y="3219450"/>
            <a:ext cx="1190700" cy="190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950">
                <a:solidFill>
                  <a:srgbClr val="0B2545"/>
                </a:solidFill>
                <a:latin typeface="Inter SemiBold"/>
                <a:ea typeface="Inter SemiBold"/>
                <a:cs typeface="Inter SemiBold"/>
                <a:sym typeface="Inter SemiBold"/>
              </a:rPr>
              <a:t>New Smyrna</a:t>
            </a:r>
            <a:endParaRPr/>
          </a:p>
        </p:txBody>
      </p:sp>
      <p:sp>
        <p:nvSpPr>
          <p:cNvPr id="187" name="Google Shape;187;p19"/>
          <p:cNvSpPr/>
          <p:nvPr/>
        </p:nvSpPr>
        <p:spPr>
          <a:xfrm>
            <a:off x="1762125" y="3248025"/>
            <a:ext cx="1714500" cy="133500"/>
          </a:xfrm>
          <a:prstGeom prst="roundRect">
            <a:avLst>
              <a:gd name="adj" fmla="val 14285"/>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8" name="Google Shape;188;p19"/>
          <p:cNvSpPr/>
          <p:nvPr/>
        </p:nvSpPr>
        <p:spPr>
          <a:xfrm>
            <a:off x="3505200" y="3248025"/>
            <a:ext cx="28500" cy="133500"/>
          </a:xfrm>
          <a:prstGeom prst="roundRect">
            <a:avLst>
              <a:gd name="adj" fmla="val 33333"/>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9" name="Google Shape;189;p19"/>
          <p:cNvSpPr txBox="1"/>
          <p:nvPr/>
        </p:nvSpPr>
        <p:spPr>
          <a:xfrm>
            <a:off x="3581400" y="3219450"/>
            <a:ext cx="809700" cy="190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800" b="0">
                <a:solidFill>
                  <a:srgbClr val="1D70A2"/>
                </a:solidFill>
                <a:latin typeface="Inter SemiBold"/>
                <a:ea typeface="Inter SemiBold"/>
                <a:cs typeface="Inter SemiBold"/>
                <a:sym typeface="Inter SemiBold"/>
              </a:rPr>
              <a:t>0% Fatality</a:t>
            </a:r>
            <a:endParaRPr/>
          </a:p>
        </p:txBody>
      </p:sp>
      <p:sp>
        <p:nvSpPr>
          <p:cNvPr id="190" name="Google Shape;190;p19"/>
          <p:cNvSpPr txBox="1"/>
          <p:nvPr/>
        </p:nvSpPr>
        <p:spPr>
          <a:xfrm>
            <a:off x="523875" y="3505200"/>
            <a:ext cx="1190700" cy="190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950">
                <a:solidFill>
                  <a:srgbClr val="0B2545"/>
                </a:solidFill>
                <a:latin typeface="Inter SemiBold"/>
                <a:ea typeface="Inter SemiBold"/>
                <a:cs typeface="Inter SemiBold"/>
                <a:sym typeface="Inter SemiBold"/>
              </a:rPr>
              <a:t>Daytona Beach</a:t>
            </a:r>
            <a:endParaRPr/>
          </a:p>
        </p:txBody>
      </p:sp>
      <p:sp>
        <p:nvSpPr>
          <p:cNvPr id="191" name="Google Shape;191;p19"/>
          <p:cNvSpPr/>
          <p:nvPr/>
        </p:nvSpPr>
        <p:spPr>
          <a:xfrm>
            <a:off x="1762125" y="3533775"/>
            <a:ext cx="1571700" cy="133500"/>
          </a:xfrm>
          <a:prstGeom prst="roundRect">
            <a:avLst>
              <a:gd name="adj" fmla="val 14285"/>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2" name="Google Shape;192;p19"/>
          <p:cNvSpPr/>
          <p:nvPr/>
        </p:nvSpPr>
        <p:spPr>
          <a:xfrm>
            <a:off x="3362325" y="3533775"/>
            <a:ext cx="38100" cy="133500"/>
          </a:xfrm>
          <a:prstGeom prst="roundRect">
            <a:avLst>
              <a:gd name="adj" fmla="val 25000"/>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3" name="Google Shape;193;p19"/>
          <p:cNvSpPr txBox="1"/>
          <p:nvPr/>
        </p:nvSpPr>
        <p:spPr>
          <a:xfrm>
            <a:off x="3448050" y="3505200"/>
            <a:ext cx="952500" cy="190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800" b="0">
                <a:solidFill>
                  <a:srgbClr val="1D70A2"/>
                </a:solidFill>
                <a:latin typeface="Inter SemiBold"/>
                <a:ea typeface="Inter SemiBold"/>
                <a:cs typeface="Inter SemiBold"/>
                <a:sym typeface="Inter SemiBold"/>
              </a:rPr>
              <a:t>&lt;0.1% Fatality</a:t>
            </a:r>
            <a:endParaRPr/>
          </a:p>
        </p:txBody>
      </p:sp>
      <p:sp>
        <p:nvSpPr>
          <p:cNvPr id="194" name="Google Shape;194;p19"/>
          <p:cNvSpPr txBox="1"/>
          <p:nvPr/>
        </p:nvSpPr>
        <p:spPr>
          <a:xfrm>
            <a:off x="523875" y="3790950"/>
            <a:ext cx="1190700" cy="190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950">
                <a:solidFill>
                  <a:srgbClr val="0B2545"/>
                </a:solidFill>
                <a:latin typeface="Inter SemiBold"/>
                <a:ea typeface="Inter SemiBold"/>
                <a:cs typeface="Inter SemiBold"/>
                <a:sym typeface="Inter SemiBold"/>
              </a:rPr>
              <a:t>Melbourne</a:t>
            </a:r>
            <a:endParaRPr/>
          </a:p>
        </p:txBody>
      </p:sp>
      <p:sp>
        <p:nvSpPr>
          <p:cNvPr id="195" name="Google Shape;195;p19"/>
          <p:cNvSpPr/>
          <p:nvPr/>
        </p:nvSpPr>
        <p:spPr>
          <a:xfrm>
            <a:off x="1762125" y="3819525"/>
            <a:ext cx="1666800" cy="133500"/>
          </a:xfrm>
          <a:prstGeom prst="roundRect">
            <a:avLst>
              <a:gd name="adj" fmla="val 14285"/>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6" name="Google Shape;196;p19"/>
          <p:cNvSpPr/>
          <p:nvPr/>
        </p:nvSpPr>
        <p:spPr>
          <a:xfrm>
            <a:off x="3457575" y="3819525"/>
            <a:ext cx="28500" cy="133500"/>
          </a:xfrm>
          <a:prstGeom prst="roundRect">
            <a:avLst>
              <a:gd name="adj" fmla="val 33333"/>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7" name="Google Shape;197;p19"/>
          <p:cNvSpPr txBox="1"/>
          <p:nvPr/>
        </p:nvSpPr>
        <p:spPr>
          <a:xfrm>
            <a:off x="3533775" y="3790950"/>
            <a:ext cx="809700" cy="190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800" b="0">
                <a:solidFill>
                  <a:srgbClr val="1D70A2"/>
                </a:solidFill>
                <a:latin typeface="Inter SemiBold"/>
                <a:ea typeface="Inter SemiBold"/>
                <a:cs typeface="Inter SemiBold"/>
                <a:sym typeface="Inter SemiBold"/>
              </a:rPr>
              <a:t>0% Fatality</a:t>
            </a:r>
            <a:endParaRPr/>
          </a:p>
        </p:txBody>
      </p:sp>
      <p:pic>
        <p:nvPicPr>
          <p:cNvPr id="198" name="Google Shape;198;p19"/>
          <p:cNvPicPr preferRelativeResize="0"/>
          <p:nvPr/>
        </p:nvPicPr>
        <p:blipFill rotWithShape="1">
          <a:blip r:embed="rId4">
            <a:alphaModFix/>
          </a:blip>
          <a:srcRect/>
          <a:stretch/>
        </p:blipFill>
        <p:spPr>
          <a:xfrm>
            <a:off x="523875" y="4110038"/>
            <a:ext cx="3429000" cy="9600"/>
          </a:xfrm>
          <a:prstGeom prst="rect">
            <a:avLst/>
          </a:prstGeom>
          <a:noFill/>
          <a:ln>
            <a:noFill/>
          </a:ln>
        </p:spPr>
      </p:pic>
      <p:sp>
        <p:nvSpPr>
          <p:cNvPr id="199" name="Google Shape;199;p19"/>
          <p:cNvSpPr/>
          <p:nvPr/>
        </p:nvSpPr>
        <p:spPr>
          <a:xfrm>
            <a:off x="523875" y="4238625"/>
            <a:ext cx="95400" cy="95400"/>
          </a:xfrm>
          <a:prstGeom prst="roundRect">
            <a:avLst>
              <a:gd name="adj" fmla="val 20000"/>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0" name="Google Shape;200;p19"/>
          <p:cNvSpPr txBox="1"/>
          <p:nvPr/>
        </p:nvSpPr>
        <p:spPr>
          <a:xfrm>
            <a:off x="666750" y="4191000"/>
            <a:ext cx="1238400" cy="190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750" b="0">
                <a:solidFill>
                  <a:srgbClr val="4A6582"/>
                </a:solidFill>
                <a:latin typeface="Inter SemiBold"/>
                <a:ea typeface="Inter SemiBold"/>
                <a:cs typeface="Inter SemiBold"/>
                <a:sym typeface="Inter SemiBold"/>
              </a:rPr>
              <a:t>Encounter Volume</a:t>
            </a:r>
            <a:endParaRPr/>
          </a:p>
        </p:txBody>
      </p:sp>
      <p:sp>
        <p:nvSpPr>
          <p:cNvPr id="201" name="Google Shape;201;p19"/>
          <p:cNvSpPr/>
          <p:nvPr/>
        </p:nvSpPr>
        <p:spPr>
          <a:xfrm>
            <a:off x="2000250" y="4238625"/>
            <a:ext cx="95400" cy="95400"/>
          </a:xfrm>
          <a:prstGeom prst="roundRect">
            <a:avLst>
              <a:gd name="adj" fmla="val 20000"/>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2" name="Google Shape;202;p19"/>
          <p:cNvSpPr txBox="1"/>
          <p:nvPr/>
        </p:nvSpPr>
        <p:spPr>
          <a:xfrm>
            <a:off x="2095650" y="4248250"/>
            <a:ext cx="1428900" cy="190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750" b="0">
                <a:solidFill>
                  <a:srgbClr val="4A6582"/>
                </a:solidFill>
                <a:latin typeface="Inter SemiBold"/>
                <a:ea typeface="Inter SemiBold"/>
                <a:cs typeface="Inter SemiBold"/>
                <a:sym typeface="Inter SemiBold"/>
              </a:rPr>
              <a:t>Historical Fatality Rate</a:t>
            </a:r>
            <a:endParaRPr/>
          </a:p>
        </p:txBody>
      </p:sp>
      <p:pic>
        <p:nvPicPr>
          <p:cNvPr id="203" name="Google Shape;203;p19"/>
          <p:cNvPicPr preferRelativeResize="0"/>
          <p:nvPr/>
        </p:nvPicPr>
        <p:blipFill rotWithShape="1">
          <a:blip r:embed="rId5">
            <a:alphaModFix/>
          </a:blip>
          <a:srcRect/>
          <a:stretch/>
        </p:blipFill>
        <p:spPr>
          <a:xfrm>
            <a:off x="4857750" y="4167188"/>
            <a:ext cx="3714900" cy="9600"/>
          </a:xfrm>
          <a:prstGeom prst="rect">
            <a:avLst/>
          </a:prstGeom>
          <a:noFill/>
          <a:ln>
            <a:noFill/>
          </a:ln>
        </p:spPr>
      </p:pic>
      <p:pic>
        <p:nvPicPr>
          <p:cNvPr id="204" name="Google Shape;204;p19"/>
          <p:cNvPicPr preferRelativeResize="0"/>
          <p:nvPr/>
        </p:nvPicPr>
        <p:blipFill>
          <a:blip r:embed="rId6">
            <a:alphaModFix/>
          </a:blip>
          <a:stretch>
            <a:fillRect/>
          </a:stretch>
        </p:blipFill>
        <p:spPr>
          <a:xfrm>
            <a:off x="198500" y="804250"/>
            <a:ext cx="4202049" cy="2081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8"/>
        <p:cNvGrpSpPr/>
        <p:nvPr/>
      </p:nvGrpSpPr>
      <p:grpSpPr>
        <a:xfrm>
          <a:off x="0" y="0"/>
          <a:ext cx="0" cy="0"/>
          <a:chOff x="0" y="0"/>
          <a:chExt cx="0" cy="0"/>
        </a:xfrm>
      </p:grpSpPr>
      <p:grpSp>
        <p:nvGrpSpPr>
          <p:cNvPr id="209" name="Google Shape;209;p20"/>
          <p:cNvGrpSpPr/>
          <p:nvPr/>
        </p:nvGrpSpPr>
        <p:grpSpPr>
          <a:xfrm>
            <a:off x="0" y="285750"/>
            <a:ext cx="9144000" cy="4857750"/>
            <a:chOff x="0" y="285750"/>
            <a:chExt cx="9144000" cy="4857750"/>
          </a:xfrm>
        </p:grpSpPr>
        <p:grpSp>
          <p:nvGrpSpPr>
            <p:cNvPr id="210" name="Google Shape;210;p20"/>
            <p:cNvGrpSpPr/>
            <p:nvPr/>
          </p:nvGrpSpPr>
          <p:grpSpPr>
            <a:xfrm>
              <a:off x="476250" y="285750"/>
              <a:ext cx="409575" cy="238200"/>
              <a:chOff x="95250" y="0"/>
              <a:chExt cx="409575" cy="238200"/>
            </a:xfrm>
          </p:grpSpPr>
          <p:sp>
            <p:nvSpPr>
              <p:cNvPr id="211" name="Google Shape;211;p20"/>
              <p:cNvSpPr/>
              <p:nvPr/>
            </p:nvSpPr>
            <p:spPr>
              <a:xfrm>
                <a:off x="95250" y="0"/>
                <a:ext cx="190500" cy="238200"/>
              </a:xfrm>
              <a:custGeom>
                <a:avLst/>
                <a:gdLst/>
                <a:ahLst/>
                <a:cxnLst/>
                <a:rect l="l" t="t" r="r" b="b"/>
                <a:pathLst>
                  <a:path w="120000" h="120000" extrusionOk="0">
                    <a:moveTo>
                      <a:pt x="0" y="96000"/>
                    </a:moveTo>
                    <a:quadBezTo>
                      <a:pt x="30000" y="24000"/>
                      <a:pt x="90000" y="0"/>
                    </a:quadBezTo>
                    <a:quadBezTo>
                      <a:pt x="60000" y="72000"/>
                      <a:pt x="120000" y="120000"/>
                    </a:quadBezTo>
                    <a:lnTo>
                      <a:pt x="0" y="120000"/>
                    </a:lnTo>
                    <a:close/>
                  </a:path>
                </a:pathLst>
              </a:cu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2" name="Google Shape;212;p20"/>
              <p:cNvSpPr/>
              <p:nvPr/>
            </p:nvSpPr>
            <p:spPr>
              <a:xfrm>
                <a:off x="333375" y="47625"/>
                <a:ext cx="38100" cy="190500"/>
              </a:xfrm>
              <a:prstGeom prst="rect">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3" name="Google Shape;213;p20"/>
              <p:cNvSpPr/>
              <p:nvPr/>
            </p:nvSpPr>
            <p:spPr>
              <a:xfrm>
                <a:off x="400050" y="114300"/>
                <a:ext cx="38100" cy="123900"/>
              </a:xfrm>
              <a:prstGeom prst="rect">
                <a:avLst/>
              </a:prstGeom>
              <a:solidFill>
                <a:srgbClr val="8DA9C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4" name="Google Shape;214;p20"/>
              <p:cNvSpPr/>
              <p:nvPr/>
            </p:nvSpPr>
            <p:spPr>
              <a:xfrm>
                <a:off x="466725" y="76200"/>
                <a:ext cx="38100" cy="162000"/>
              </a:xfrm>
              <a:prstGeom prst="rect">
                <a:avLst/>
              </a:prstGeom>
              <a:solidFill>
                <a:srgbClr val="0B254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pic>
          <p:nvPicPr>
            <p:cNvPr id="215" name="Google Shape;215;p20"/>
            <p:cNvPicPr preferRelativeResize="0"/>
            <p:nvPr/>
          </p:nvPicPr>
          <p:blipFill rotWithShape="1">
            <a:blip r:embed="rId4">
              <a:alphaModFix/>
            </a:blip>
            <a:srcRect/>
            <a:stretch/>
          </p:blipFill>
          <p:spPr>
            <a:xfrm>
              <a:off x="381000" y="804863"/>
              <a:ext cx="8382000" cy="9600"/>
            </a:xfrm>
            <a:prstGeom prst="rect">
              <a:avLst/>
            </a:prstGeom>
            <a:noFill/>
            <a:ln>
              <a:noFill/>
            </a:ln>
          </p:spPr>
        </p:pic>
        <p:sp>
          <p:nvSpPr>
            <p:cNvPr id="216" name="Google Shape;216;p20"/>
            <p:cNvSpPr/>
            <p:nvPr/>
          </p:nvSpPr>
          <p:spPr>
            <a:xfrm>
              <a:off x="0" y="4191000"/>
              <a:ext cx="9144000" cy="952500"/>
            </a:xfrm>
            <a:custGeom>
              <a:avLst/>
              <a:gdLst/>
              <a:ahLst/>
              <a:cxnLst/>
              <a:rect l="l" t="t" r="r" b="b"/>
              <a:pathLst>
                <a:path w="120000" h="120000" extrusionOk="0">
                  <a:moveTo>
                    <a:pt x="0" y="48000"/>
                  </a:moveTo>
                  <a:quadBezTo>
                    <a:pt x="30000" y="0"/>
                    <a:pt x="60000" y="48000"/>
                  </a:quadBezTo>
                  <a:lnTo>
                    <a:pt x="120000" y="48000"/>
                  </a:lnTo>
                  <a:lnTo>
                    <a:pt x="120000" y="120000"/>
                  </a:lnTo>
                  <a:lnTo>
                    <a:pt x="0" y="120000"/>
                  </a:lnTo>
                  <a:close/>
                </a:path>
              </a:pathLst>
            </a:custGeom>
            <a:solidFill>
              <a:srgbClr val="0B2545">
                <a:alpha val="5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217" name="Google Shape;217;p20"/>
          <p:cNvSpPr txBox="1"/>
          <p:nvPr/>
        </p:nvSpPr>
        <p:spPr>
          <a:xfrm>
            <a:off x="1047750" y="238125"/>
            <a:ext cx="7715400" cy="523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700" b="1">
                <a:solidFill>
                  <a:srgbClr val="0B2545"/>
                </a:solidFill>
                <a:latin typeface="Montserrat"/>
                <a:ea typeface="Montserrat"/>
                <a:cs typeface="Montserrat"/>
                <a:sym typeface="Montserrat"/>
              </a:rPr>
              <a:t>Seasonality: Temporal and Seasonal Patterns in Shark Incidents</a:t>
            </a:r>
            <a:endParaRPr sz="1700" b="1">
              <a:solidFill>
                <a:srgbClr val="0B2545"/>
              </a:solidFill>
              <a:latin typeface="Montserrat"/>
              <a:ea typeface="Montserrat"/>
              <a:cs typeface="Montserrat"/>
              <a:sym typeface="Montserrat"/>
            </a:endParaRPr>
          </a:p>
        </p:txBody>
      </p:sp>
      <p:sp>
        <p:nvSpPr>
          <p:cNvPr id="218" name="Google Shape;218;p20"/>
          <p:cNvSpPr txBox="1"/>
          <p:nvPr/>
        </p:nvSpPr>
        <p:spPr>
          <a:xfrm>
            <a:off x="381000" y="1000125"/>
            <a:ext cx="8382000"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a:solidFill>
                  <a:srgbClr val="4A6582"/>
                </a:solidFill>
                <a:latin typeface="Inter"/>
                <a:ea typeface="Inter"/>
                <a:cs typeface="Inter"/>
                <a:sym typeface="Inter"/>
              </a:rPr>
              <a:t>Shark incidents show a noticeable seasonal pattern. The data reveals a clear peak during the months of June and January followed by July, suggesting that these months have a higher frequency of registered shark encounters.</a:t>
            </a:r>
            <a:endParaRPr sz="1100">
              <a:solidFill>
                <a:srgbClr val="4A6582"/>
              </a:solidFill>
              <a:latin typeface="Inter"/>
              <a:ea typeface="Inter"/>
              <a:cs typeface="Inter"/>
              <a:sym typeface="Inter"/>
            </a:endParaRPr>
          </a:p>
          <a:p>
            <a:pPr marL="0" lvl="0" indent="0" algn="l" rtl="0">
              <a:spcBef>
                <a:spcPts val="0"/>
              </a:spcBef>
              <a:spcAft>
                <a:spcPts val="0"/>
              </a:spcAft>
              <a:buNone/>
            </a:pPr>
            <a:endParaRPr sz="1100">
              <a:solidFill>
                <a:srgbClr val="4A6582"/>
              </a:solidFill>
              <a:latin typeface="Inter"/>
              <a:ea typeface="Inter"/>
              <a:cs typeface="Inter"/>
              <a:sym typeface="Inter"/>
            </a:endParaRPr>
          </a:p>
        </p:txBody>
      </p:sp>
      <p:grpSp>
        <p:nvGrpSpPr>
          <p:cNvPr id="219" name="Google Shape;219;p20"/>
          <p:cNvGrpSpPr/>
          <p:nvPr/>
        </p:nvGrpSpPr>
        <p:grpSpPr>
          <a:xfrm>
            <a:off x="4762500" y="1524000"/>
            <a:ext cx="4000500" cy="1238400"/>
            <a:chOff x="0" y="0"/>
            <a:chExt cx="4000500" cy="1238400"/>
          </a:xfrm>
        </p:grpSpPr>
        <p:sp>
          <p:nvSpPr>
            <p:cNvPr id="220" name="Google Shape;220;p20"/>
            <p:cNvSpPr/>
            <p:nvPr/>
          </p:nvSpPr>
          <p:spPr>
            <a:xfrm>
              <a:off x="0" y="0"/>
              <a:ext cx="4000500" cy="1238400"/>
            </a:xfrm>
            <a:prstGeom prst="roundRect">
              <a:avLst>
                <a:gd name="adj" fmla="val 1538"/>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1" name="Google Shape;221;p20"/>
            <p:cNvSpPr/>
            <p:nvPr/>
          </p:nvSpPr>
          <p:spPr>
            <a:xfrm>
              <a:off x="0" y="0"/>
              <a:ext cx="38100" cy="1238400"/>
            </a:xfrm>
            <a:prstGeom prst="rect">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22" name="Google Shape;222;p20"/>
            <p:cNvGrpSpPr/>
            <p:nvPr/>
          </p:nvGrpSpPr>
          <p:grpSpPr>
            <a:xfrm>
              <a:off x="209550" y="209550"/>
              <a:ext cx="190500" cy="209700"/>
              <a:chOff x="19050" y="19050"/>
              <a:chExt cx="190500" cy="209700"/>
            </a:xfrm>
          </p:grpSpPr>
          <p:sp>
            <p:nvSpPr>
              <p:cNvPr id="223" name="Google Shape;223;p20"/>
              <p:cNvSpPr/>
              <p:nvPr/>
            </p:nvSpPr>
            <p:spPr>
              <a:xfrm>
                <a:off x="38100" y="152400"/>
                <a:ext cx="38100" cy="76200"/>
              </a:xfrm>
              <a:prstGeom prst="rect">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4" name="Google Shape;224;p20"/>
              <p:cNvSpPr/>
              <p:nvPr/>
            </p:nvSpPr>
            <p:spPr>
              <a:xfrm>
                <a:off x="95250" y="76200"/>
                <a:ext cx="38100" cy="152400"/>
              </a:xfrm>
              <a:prstGeom prst="rect">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5" name="Google Shape;225;p20"/>
              <p:cNvSpPr/>
              <p:nvPr/>
            </p:nvSpPr>
            <p:spPr>
              <a:xfrm>
                <a:off x="152400" y="19050"/>
                <a:ext cx="38100" cy="209700"/>
              </a:xfrm>
              <a:prstGeom prst="rect">
                <a:avLst/>
              </a:prstGeom>
              <a:solidFill>
                <a:srgbClr val="8DA9C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6" name="Google Shape;226;p20"/>
              <p:cNvSpPr/>
              <p:nvPr/>
            </p:nvSpPr>
            <p:spPr>
              <a:xfrm>
                <a:off x="19050" y="228600"/>
                <a:ext cx="190500" cy="0"/>
              </a:xfrm>
              <a:custGeom>
                <a:avLst/>
                <a:gdLst/>
                <a:ahLst/>
                <a:cxnLst/>
                <a:rect l="l" t="t" r="r" b="b"/>
                <a:pathLst>
                  <a:path w="120000" h="120000" fill="none" extrusionOk="0">
                    <a:moveTo>
                      <a:pt x="0" y="0"/>
                    </a:moveTo>
                    <a:lnTo>
                      <a:pt x="120000" y="0"/>
                    </a:lnTo>
                  </a:path>
                </a:pathLst>
              </a:custGeom>
              <a:solidFill>
                <a:srgbClr val="FFFFFF"/>
              </a:solidFill>
              <a:ln w="19050" cap="flat" cmpd="sng">
                <a:solidFill>
                  <a:srgbClr val="0B25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227" name="Google Shape;227;p20"/>
            <p:cNvSpPr txBox="1"/>
            <p:nvPr/>
          </p:nvSpPr>
          <p:spPr>
            <a:xfrm>
              <a:off x="523875" y="142875"/>
              <a:ext cx="3286200" cy="95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200" b="0">
                  <a:solidFill>
                    <a:srgbClr val="134074"/>
                  </a:solidFill>
                  <a:latin typeface="Montserrat SemiBold"/>
                  <a:ea typeface="Montserrat SemiBold"/>
                  <a:cs typeface="Montserrat SemiBold"/>
                  <a:sym typeface="Montserrat SemiBold"/>
                </a:rPr>
                <a:t>Seasonal Peak Patterns</a:t>
              </a:r>
              <a:endParaRPr sz="1200" b="0">
                <a:solidFill>
                  <a:srgbClr val="134074"/>
                </a:solidFill>
                <a:latin typeface="Montserrat SemiBold"/>
                <a:ea typeface="Montserrat SemiBold"/>
                <a:cs typeface="Montserrat SemiBold"/>
                <a:sym typeface="Montserrat SemiBold"/>
              </a:endParaRPr>
            </a:p>
            <a:p>
              <a:pPr marL="0" lvl="0" indent="0" algn="l" rtl="0">
                <a:spcBef>
                  <a:spcPts val="450"/>
                </a:spcBef>
                <a:spcAft>
                  <a:spcPts val="0"/>
                </a:spcAft>
                <a:buNone/>
              </a:pPr>
              <a:r>
                <a:rPr lang="en-GB" sz="1100" b="0">
                  <a:solidFill>
                    <a:srgbClr val="4A6582"/>
                  </a:solidFill>
                  <a:latin typeface="Inter"/>
                  <a:ea typeface="Inter"/>
                  <a:cs typeface="Inter"/>
                  <a:sym typeface="Inter"/>
                </a:rPr>
                <a:t>Historical data demonstrates a distinct, predictable peak in incidents during </a:t>
              </a:r>
              <a:r>
                <a:rPr lang="en-GB" sz="1100">
                  <a:solidFill>
                    <a:srgbClr val="4A6582"/>
                  </a:solidFill>
                  <a:latin typeface="Inter"/>
                  <a:ea typeface="Inter"/>
                  <a:cs typeface="Inter"/>
                  <a:sym typeface="Inter"/>
                </a:rPr>
                <a:t>june and january </a:t>
              </a:r>
              <a:r>
                <a:rPr lang="en-GB" sz="1100" b="0">
                  <a:solidFill>
                    <a:srgbClr val="4A6582"/>
                  </a:solidFill>
                  <a:latin typeface="Inter"/>
                  <a:ea typeface="Inter"/>
                  <a:cs typeface="Inter"/>
                  <a:sym typeface="Inter"/>
                </a:rPr>
                <a:t>both Northern and Southern hemispheres.</a:t>
              </a:r>
              <a:endParaRPr sz="1100" b="0">
                <a:solidFill>
                  <a:srgbClr val="4A6582"/>
                </a:solidFill>
                <a:latin typeface="Inter"/>
                <a:ea typeface="Inter"/>
                <a:cs typeface="Inter"/>
                <a:sym typeface="Inter"/>
              </a:endParaRPr>
            </a:p>
          </p:txBody>
        </p:sp>
      </p:grpSp>
      <p:grpSp>
        <p:nvGrpSpPr>
          <p:cNvPr id="228" name="Google Shape;228;p20"/>
          <p:cNvGrpSpPr/>
          <p:nvPr/>
        </p:nvGrpSpPr>
        <p:grpSpPr>
          <a:xfrm>
            <a:off x="4762500" y="2905125"/>
            <a:ext cx="4000500" cy="1047900"/>
            <a:chOff x="0" y="0"/>
            <a:chExt cx="4000500" cy="1047900"/>
          </a:xfrm>
        </p:grpSpPr>
        <p:sp>
          <p:nvSpPr>
            <p:cNvPr id="229" name="Google Shape;229;p20"/>
            <p:cNvSpPr/>
            <p:nvPr/>
          </p:nvSpPr>
          <p:spPr>
            <a:xfrm>
              <a:off x="0" y="0"/>
              <a:ext cx="4000500" cy="1047900"/>
            </a:xfrm>
            <a:prstGeom prst="roundRect">
              <a:avLst>
                <a:gd name="adj" fmla="val 1818"/>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0" name="Google Shape;230;p20"/>
            <p:cNvSpPr/>
            <p:nvPr/>
          </p:nvSpPr>
          <p:spPr>
            <a:xfrm>
              <a:off x="0" y="0"/>
              <a:ext cx="38100" cy="1047900"/>
            </a:xfrm>
            <a:prstGeom prst="rect">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31" name="Google Shape;231;p20"/>
            <p:cNvGrpSpPr/>
            <p:nvPr/>
          </p:nvGrpSpPr>
          <p:grpSpPr>
            <a:xfrm>
              <a:off x="228600" y="209550"/>
              <a:ext cx="152400" cy="219000"/>
              <a:chOff x="38100" y="19050"/>
              <a:chExt cx="152400" cy="219000"/>
            </a:xfrm>
          </p:grpSpPr>
          <p:sp>
            <p:nvSpPr>
              <p:cNvPr id="232" name="Google Shape;232;p20"/>
              <p:cNvSpPr/>
              <p:nvPr/>
            </p:nvSpPr>
            <p:spPr>
              <a:xfrm>
                <a:off x="38100" y="19050"/>
                <a:ext cx="152400" cy="219000"/>
              </a:xfrm>
              <a:custGeom>
                <a:avLst/>
                <a:gdLst/>
                <a:ahLst/>
                <a:cxnLst/>
                <a:rect l="l" t="t" r="r" b="b"/>
                <a:pathLst>
                  <a:path w="120000" h="120000" extrusionOk="0">
                    <a:moveTo>
                      <a:pt x="60000" y="0"/>
                    </a:moveTo>
                    <a:lnTo>
                      <a:pt x="0" y="15652"/>
                    </a:lnTo>
                    <a:lnTo>
                      <a:pt x="0" y="57391"/>
                    </a:lnTo>
                    <a:cubicBezTo>
                      <a:pt x="0" y="86087"/>
                      <a:pt x="25500" y="111652"/>
                      <a:pt x="60000" y="120000"/>
                    </a:cubicBezTo>
                    <a:cubicBezTo>
                      <a:pt x="94500" y="111652"/>
                      <a:pt x="120000" y="86087"/>
                      <a:pt x="120000" y="57391"/>
                    </a:cubicBezTo>
                    <a:lnTo>
                      <a:pt x="120000" y="15652"/>
                    </a:lnTo>
                    <a:lnTo>
                      <a:pt x="60000" y="0"/>
                    </a:lnTo>
                    <a:close/>
                  </a:path>
                </a:pathLst>
              </a:custGeom>
              <a:solidFill>
                <a:srgbClr val="000000">
                  <a:alpha val="0"/>
                </a:srgbClr>
              </a:solidFill>
              <a:ln w="19050" cap="flat" cmpd="sng">
                <a:solidFill>
                  <a:srgbClr val="1D70A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3" name="Google Shape;233;p20"/>
              <p:cNvSpPr/>
              <p:nvPr/>
            </p:nvSpPr>
            <p:spPr>
              <a:xfrm>
                <a:off x="57150" y="57150"/>
                <a:ext cx="57300" cy="142800"/>
              </a:xfrm>
              <a:custGeom>
                <a:avLst/>
                <a:gdLst/>
                <a:ahLst/>
                <a:cxnLst/>
                <a:rect l="l" t="t" r="r" b="b"/>
                <a:pathLst>
                  <a:path w="120000" h="120000" extrusionOk="0">
                    <a:moveTo>
                      <a:pt x="120000" y="0"/>
                    </a:moveTo>
                    <a:lnTo>
                      <a:pt x="120000" y="120000"/>
                    </a:lnTo>
                    <a:cubicBezTo>
                      <a:pt x="50000" y="108000"/>
                      <a:pt x="0" y="76000"/>
                      <a:pt x="0" y="56000"/>
                    </a:cubicBezTo>
                    <a:lnTo>
                      <a:pt x="0" y="8000"/>
                    </a:lnTo>
                    <a:lnTo>
                      <a:pt x="120000" y="0"/>
                    </a:lnTo>
                    <a:close/>
                  </a:path>
                </a:pathLst>
              </a:custGeom>
              <a:solidFill>
                <a:srgbClr val="8DA9C4">
                  <a:alpha val="5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234" name="Google Shape;234;p20"/>
            <p:cNvSpPr txBox="1"/>
            <p:nvPr/>
          </p:nvSpPr>
          <p:spPr>
            <a:xfrm>
              <a:off x="523875" y="142875"/>
              <a:ext cx="3286200" cy="809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200" b="0">
                  <a:solidFill>
                    <a:srgbClr val="134074"/>
                  </a:solidFill>
                  <a:latin typeface="Montserrat SemiBold"/>
                  <a:ea typeface="Montserrat SemiBold"/>
                  <a:cs typeface="Montserrat SemiBold"/>
                  <a:sym typeface="Montserrat SemiBold"/>
                </a:rPr>
                <a:t>Risk-Minimized Scheduling</a:t>
              </a:r>
              <a:endParaRPr sz="1200" b="0">
                <a:solidFill>
                  <a:srgbClr val="134074"/>
                </a:solidFill>
                <a:latin typeface="Montserrat SemiBold"/>
                <a:ea typeface="Montserrat SemiBold"/>
                <a:cs typeface="Montserrat SemiBold"/>
                <a:sym typeface="Montserrat SemiBold"/>
              </a:endParaRPr>
            </a:p>
            <a:p>
              <a:pPr marL="0" lvl="0" indent="0" algn="l" rtl="0">
                <a:spcBef>
                  <a:spcPts val="450"/>
                </a:spcBef>
                <a:spcAft>
                  <a:spcPts val="0"/>
                </a:spcAft>
                <a:buNone/>
              </a:pPr>
              <a:r>
                <a:rPr lang="en-GB" sz="1100" b="0">
                  <a:solidFill>
                    <a:srgbClr val="4A6582"/>
                  </a:solidFill>
                  <a:latin typeface="Inter"/>
                  <a:ea typeface="Inter"/>
                  <a:cs typeface="Inter"/>
                  <a:sym typeface="Inter"/>
                </a:rPr>
                <a:t>SharkSafe will restrict specific water activities during these high-risk windows to systematically minimize operational exposure.</a:t>
              </a:r>
              <a:endParaRPr sz="1100" b="0">
                <a:solidFill>
                  <a:srgbClr val="4A6582"/>
                </a:solidFill>
                <a:latin typeface="Inter"/>
                <a:ea typeface="Inter"/>
                <a:cs typeface="Inter"/>
                <a:sym typeface="Inter"/>
              </a:endParaRPr>
            </a:p>
          </p:txBody>
        </p:sp>
      </p:grpSp>
      <p:pic>
        <p:nvPicPr>
          <p:cNvPr id="235" name="Google Shape;235;p20"/>
          <p:cNvPicPr preferRelativeResize="0"/>
          <p:nvPr/>
        </p:nvPicPr>
        <p:blipFill>
          <a:blip r:embed="rId5">
            <a:alphaModFix/>
          </a:blip>
          <a:stretch>
            <a:fillRect/>
          </a:stretch>
        </p:blipFill>
        <p:spPr>
          <a:xfrm>
            <a:off x="119100" y="1594275"/>
            <a:ext cx="4572001" cy="235875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1"/>
          <p:cNvSpPr/>
          <p:nvPr/>
        </p:nvSpPr>
        <p:spPr>
          <a:xfrm>
            <a:off x="0" y="50"/>
            <a:ext cx="9144000" cy="5143500"/>
          </a:xfrm>
          <a:prstGeom prst="rect">
            <a:avLst/>
          </a:prstGeom>
          <a:solidFill>
            <a:srgbClr val="F4F7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41" name="Google Shape;241;p21"/>
          <p:cNvGrpSpPr/>
          <p:nvPr/>
        </p:nvGrpSpPr>
        <p:grpSpPr>
          <a:xfrm>
            <a:off x="476250" y="266700"/>
            <a:ext cx="409575" cy="190575"/>
            <a:chOff x="95250" y="0"/>
            <a:chExt cx="409575" cy="190575"/>
          </a:xfrm>
        </p:grpSpPr>
        <p:sp>
          <p:nvSpPr>
            <p:cNvPr id="242" name="Google Shape;242;p21"/>
            <p:cNvSpPr/>
            <p:nvPr/>
          </p:nvSpPr>
          <p:spPr>
            <a:xfrm>
              <a:off x="95250" y="0"/>
              <a:ext cx="190500" cy="190500"/>
            </a:xfrm>
            <a:custGeom>
              <a:avLst/>
              <a:gdLst/>
              <a:ahLst/>
              <a:cxnLst/>
              <a:rect l="l" t="t" r="r" b="b"/>
              <a:pathLst>
                <a:path w="120000" h="120000" extrusionOk="0">
                  <a:moveTo>
                    <a:pt x="0" y="0"/>
                  </a:moveTo>
                  <a:cubicBezTo>
                    <a:pt x="19800" y="60000"/>
                    <a:pt x="49800" y="99600"/>
                    <a:pt x="90000" y="120000"/>
                  </a:cubicBezTo>
                  <a:cubicBezTo>
                    <a:pt x="69600" y="60000"/>
                    <a:pt x="79800" y="9600"/>
                    <a:pt x="120000" y="0"/>
                  </a:cubicBezTo>
                  <a:lnTo>
                    <a:pt x="0" y="0"/>
                  </a:lnTo>
                  <a:close/>
                </a:path>
              </a:pathLst>
            </a:cu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3" name="Google Shape;243;p21"/>
            <p:cNvSpPr/>
            <p:nvPr/>
          </p:nvSpPr>
          <p:spPr>
            <a:xfrm>
              <a:off x="333375" y="0"/>
              <a:ext cx="38100" cy="190500"/>
            </a:xfrm>
            <a:prstGeom prst="rect">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4" name="Google Shape;244;p21"/>
            <p:cNvSpPr/>
            <p:nvPr/>
          </p:nvSpPr>
          <p:spPr>
            <a:xfrm>
              <a:off x="400050" y="66675"/>
              <a:ext cx="38100" cy="123900"/>
            </a:xfrm>
            <a:prstGeom prst="rect">
              <a:avLst/>
            </a:prstGeom>
            <a:solidFill>
              <a:srgbClr val="8DA9C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5" name="Google Shape;245;p21"/>
            <p:cNvSpPr/>
            <p:nvPr/>
          </p:nvSpPr>
          <p:spPr>
            <a:xfrm>
              <a:off x="466725" y="28575"/>
              <a:ext cx="38100" cy="162000"/>
            </a:xfrm>
            <a:prstGeom prst="rect">
              <a:avLst/>
            </a:prstGeom>
            <a:solidFill>
              <a:srgbClr val="0B254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246" name="Google Shape;246;p21"/>
          <p:cNvSpPr txBox="1"/>
          <p:nvPr/>
        </p:nvSpPr>
        <p:spPr>
          <a:xfrm>
            <a:off x="999875" y="135000"/>
            <a:ext cx="7715400" cy="712800"/>
          </a:xfrm>
          <a:prstGeom prst="rect">
            <a:avLst/>
          </a:prstGeom>
          <a:noFill/>
          <a:ln>
            <a:noFill/>
          </a:ln>
        </p:spPr>
        <p:txBody>
          <a:bodyPr spcFirstLastPara="1" wrap="square" lIns="0" tIns="0" rIns="0" bIns="0" anchor="ctr" anchorCtr="0">
            <a:noAutofit/>
          </a:bodyPr>
          <a:lstStyle/>
          <a:p>
            <a:pPr marL="0" lvl="0" indent="0" algn="l" rtl="0">
              <a:spcBef>
                <a:spcPts val="150"/>
              </a:spcBef>
              <a:spcAft>
                <a:spcPts val="0"/>
              </a:spcAft>
              <a:buNone/>
            </a:pPr>
            <a:r>
              <a:rPr lang="en-GB" sz="1550" b="1">
                <a:solidFill>
                  <a:srgbClr val="0B2545"/>
                </a:solidFill>
                <a:latin typeface="Montserrat"/>
                <a:ea typeface="Montserrat"/>
                <a:cs typeface="Montserrat"/>
                <a:sym typeface="Montserrat"/>
              </a:rPr>
              <a:t>Risk Reduction: </a:t>
            </a:r>
            <a:endParaRPr sz="1550" b="1">
              <a:solidFill>
                <a:srgbClr val="0B2545"/>
              </a:solidFill>
              <a:latin typeface="Montserrat"/>
              <a:ea typeface="Montserrat"/>
              <a:cs typeface="Montserrat"/>
              <a:sym typeface="Montserrat"/>
            </a:endParaRPr>
          </a:p>
          <a:p>
            <a:pPr marL="0" lvl="0" indent="0" algn="l" rtl="0">
              <a:spcBef>
                <a:spcPts val="150"/>
              </a:spcBef>
              <a:spcAft>
                <a:spcPts val="0"/>
              </a:spcAft>
              <a:buNone/>
            </a:pPr>
            <a:r>
              <a:rPr lang="en-GB" sz="1250">
                <a:solidFill>
                  <a:srgbClr val="4A6582"/>
                </a:solidFill>
                <a:latin typeface="Montserrat"/>
                <a:ea typeface="Montserrat"/>
                <a:cs typeface="Montserrat"/>
                <a:sym typeface="Montserrat"/>
              </a:rPr>
              <a:t>Global unprovoked shark attacks have decreased over the past decade, significantly reducing the incident risk for ocean tourists.</a:t>
            </a:r>
            <a:endParaRPr sz="1550" b="1">
              <a:solidFill>
                <a:srgbClr val="0B2545"/>
              </a:solidFill>
              <a:latin typeface="Montserrat"/>
              <a:ea typeface="Montserrat"/>
              <a:cs typeface="Montserrat"/>
              <a:sym typeface="Montserrat"/>
            </a:endParaRPr>
          </a:p>
        </p:txBody>
      </p:sp>
      <p:pic>
        <p:nvPicPr>
          <p:cNvPr id="247" name="Google Shape;247;p21"/>
          <p:cNvPicPr preferRelativeResize="0"/>
          <p:nvPr/>
        </p:nvPicPr>
        <p:blipFill rotWithShape="1">
          <a:blip r:embed="rId3">
            <a:alphaModFix/>
          </a:blip>
          <a:srcRect/>
          <a:stretch/>
        </p:blipFill>
        <p:spPr>
          <a:xfrm>
            <a:off x="381000" y="804863"/>
            <a:ext cx="8382000" cy="9600"/>
          </a:xfrm>
          <a:prstGeom prst="rect">
            <a:avLst/>
          </a:prstGeom>
          <a:noFill/>
          <a:ln>
            <a:noFill/>
          </a:ln>
        </p:spPr>
      </p:pic>
      <p:sp>
        <p:nvSpPr>
          <p:cNvPr id="248" name="Google Shape;248;p21"/>
          <p:cNvSpPr/>
          <p:nvPr/>
        </p:nvSpPr>
        <p:spPr>
          <a:xfrm>
            <a:off x="381000" y="952500"/>
            <a:ext cx="2000100" cy="809700"/>
          </a:xfrm>
          <a:prstGeom prst="roundRect">
            <a:avLst>
              <a:gd name="adj" fmla="val 7058"/>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9" name="Google Shape;249;p21"/>
          <p:cNvSpPr/>
          <p:nvPr/>
        </p:nvSpPr>
        <p:spPr>
          <a:xfrm>
            <a:off x="381000" y="952500"/>
            <a:ext cx="2000100" cy="38100"/>
          </a:xfrm>
          <a:prstGeom prst="roundRect">
            <a:avLst>
              <a:gd name="adj" fmla="val 50000"/>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0" name="Google Shape;250;p21"/>
          <p:cNvSpPr txBox="1"/>
          <p:nvPr/>
        </p:nvSpPr>
        <p:spPr>
          <a:xfrm>
            <a:off x="523875" y="1066800"/>
            <a:ext cx="1714500" cy="61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48" b="0">
                <a:solidFill>
                  <a:srgbClr val="134074"/>
                </a:solidFill>
                <a:latin typeface="Inter SemiBold"/>
                <a:ea typeface="Inter SemiBold"/>
                <a:cs typeface="Inter SemiBold"/>
                <a:sym typeface="Inter SemiBold"/>
              </a:rPr>
              <a:t>INCIDENT VOLUME</a:t>
            </a:r>
            <a:endParaRPr sz="648" b="0">
              <a:solidFill>
                <a:srgbClr val="134074"/>
              </a:solidFill>
              <a:latin typeface="Inter SemiBold"/>
              <a:ea typeface="Inter SemiBold"/>
              <a:cs typeface="Inter SemiBold"/>
              <a:sym typeface="Inter SemiBold"/>
            </a:endParaRPr>
          </a:p>
          <a:p>
            <a:pPr marL="0" lvl="0" indent="0" algn="l" rtl="0">
              <a:spcBef>
                <a:spcPts val="150"/>
              </a:spcBef>
              <a:spcAft>
                <a:spcPts val="0"/>
              </a:spcAft>
              <a:buNone/>
            </a:pPr>
            <a:r>
              <a:rPr lang="en-GB" sz="1665" b="1">
                <a:solidFill>
                  <a:srgbClr val="1D70A2"/>
                </a:solidFill>
                <a:latin typeface="Montserrat"/>
                <a:ea typeface="Montserrat"/>
                <a:cs typeface="Montserrat"/>
                <a:sym typeface="Montserrat"/>
              </a:rPr>
              <a:t>↓ 48.6%</a:t>
            </a:r>
            <a:endParaRPr sz="1665" b="1">
              <a:solidFill>
                <a:srgbClr val="1D70A2"/>
              </a:solidFill>
              <a:latin typeface="Montserrat"/>
              <a:ea typeface="Montserrat"/>
              <a:cs typeface="Montserrat"/>
              <a:sym typeface="Montserrat"/>
            </a:endParaRPr>
          </a:p>
          <a:p>
            <a:pPr marL="0" lvl="0" indent="0" algn="l" rtl="0">
              <a:spcBef>
                <a:spcPts val="150"/>
              </a:spcBef>
              <a:spcAft>
                <a:spcPts val="0"/>
              </a:spcAft>
              <a:buNone/>
            </a:pPr>
            <a:r>
              <a:rPr lang="en-GB" sz="694" b="0">
                <a:solidFill>
                  <a:srgbClr val="4A6582"/>
                </a:solidFill>
                <a:latin typeface="Inter"/>
                <a:ea typeface="Inter"/>
                <a:cs typeface="Inter"/>
                <a:sym typeface="Inter"/>
              </a:rPr>
              <a:t>Unprovoked attacks dropped by ~50% over 10 years.</a:t>
            </a:r>
            <a:endParaRPr sz="694" b="0">
              <a:solidFill>
                <a:srgbClr val="4A6582"/>
              </a:solidFill>
              <a:latin typeface="Inter"/>
              <a:ea typeface="Inter"/>
              <a:cs typeface="Inter"/>
              <a:sym typeface="Inter"/>
            </a:endParaRPr>
          </a:p>
        </p:txBody>
      </p:sp>
      <p:sp>
        <p:nvSpPr>
          <p:cNvPr id="251" name="Google Shape;251;p21"/>
          <p:cNvSpPr/>
          <p:nvPr/>
        </p:nvSpPr>
        <p:spPr>
          <a:xfrm>
            <a:off x="2524125" y="952500"/>
            <a:ext cx="2000100" cy="809700"/>
          </a:xfrm>
          <a:prstGeom prst="roundRect">
            <a:avLst>
              <a:gd name="adj" fmla="val 7058"/>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2" name="Google Shape;252;p21"/>
          <p:cNvSpPr/>
          <p:nvPr/>
        </p:nvSpPr>
        <p:spPr>
          <a:xfrm>
            <a:off x="2524125" y="952500"/>
            <a:ext cx="2000100" cy="38100"/>
          </a:xfrm>
          <a:prstGeom prst="roundRect">
            <a:avLst>
              <a:gd name="adj" fmla="val 50000"/>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3" name="Google Shape;253;p21"/>
          <p:cNvSpPr txBox="1"/>
          <p:nvPr/>
        </p:nvSpPr>
        <p:spPr>
          <a:xfrm>
            <a:off x="2667000" y="1066800"/>
            <a:ext cx="1714500" cy="61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48" b="0">
                <a:solidFill>
                  <a:srgbClr val="134074"/>
                </a:solidFill>
                <a:latin typeface="Inter SemiBold"/>
                <a:ea typeface="Inter SemiBold"/>
                <a:cs typeface="Inter SemiBold"/>
                <a:sym typeface="Inter SemiBold"/>
              </a:rPr>
              <a:t>FATAL ENCOUNTERS</a:t>
            </a:r>
            <a:endParaRPr sz="648" b="0">
              <a:solidFill>
                <a:srgbClr val="134074"/>
              </a:solidFill>
              <a:latin typeface="Inter SemiBold"/>
              <a:ea typeface="Inter SemiBold"/>
              <a:cs typeface="Inter SemiBold"/>
              <a:sym typeface="Inter SemiBold"/>
            </a:endParaRPr>
          </a:p>
          <a:p>
            <a:pPr marL="0" lvl="0" indent="0" algn="l" rtl="0">
              <a:spcBef>
                <a:spcPts val="150"/>
              </a:spcBef>
              <a:spcAft>
                <a:spcPts val="0"/>
              </a:spcAft>
              <a:buNone/>
            </a:pPr>
            <a:r>
              <a:rPr lang="en-GB" sz="1665" b="1">
                <a:solidFill>
                  <a:srgbClr val="134074"/>
                </a:solidFill>
                <a:latin typeface="Montserrat"/>
                <a:ea typeface="Montserrat"/>
                <a:cs typeface="Montserrat"/>
                <a:sym typeface="Montserrat"/>
              </a:rPr>
              <a:t>↑ 12.0%</a:t>
            </a:r>
            <a:endParaRPr sz="1665" b="1">
              <a:solidFill>
                <a:srgbClr val="134074"/>
              </a:solidFill>
              <a:latin typeface="Montserrat"/>
              <a:ea typeface="Montserrat"/>
              <a:cs typeface="Montserrat"/>
              <a:sym typeface="Montserrat"/>
            </a:endParaRPr>
          </a:p>
          <a:p>
            <a:pPr marL="0" lvl="0" indent="0" algn="l" rtl="0">
              <a:spcBef>
                <a:spcPts val="150"/>
              </a:spcBef>
              <a:spcAft>
                <a:spcPts val="0"/>
              </a:spcAft>
              <a:buNone/>
            </a:pPr>
            <a:r>
              <a:rPr lang="en-GB" sz="694" b="0">
                <a:solidFill>
                  <a:srgbClr val="4A6582"/>
                </a:solidFill>
                <a:latin typeface="Inter"/>
                <a:ea typeface="Inter"/>
                <a:cs typeface="Inter"/>
                <a:sym typeface="Inter"/>
              </a:rPr>
              <a:t>Peak severity occurred in 2023 with 19 fatal attacks.</a:t>
            </a:r>
            <a:endParaRPr sz="694" b="0">
              <a:solidFill>
                <a:srgbClr val="4A6582"/>
              </a:solidFill>
              <a:latin typeface="Inter"/>
              <a:ea typeface="Inter"/>
              <a:cs typeface="Inter"/>
              <a:sym typeface="Inter"/>
            </a:endParaRPr>
          </a:p>
        </p:txBody>
      </p:sp>
      <p:sp>
        <p:nvSpPr>
          <p:cNvPr id="254" name="Google Shape;254;p21"/>
          <p:cNvSpPr/>
          <p:nvPr/>
        </p:nvSpPr>
        <p:spPr>
          <a:xfrm>
            <a:off x="4667250" y="952500"/>
            <a:ext cx="1905000" cy="809700"/>
          </a:xfrm>
          <a:prstGeom prst="roundRect">
            <a:avLst>
              <a:gd name="adj" fmla="val 7058"/>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5" name="Google Shape;255;p21"/>
          <p:cNvSpPr/>
          <p:nvPr/>
        </p:nvSpPr>
        <p:spPr>
          <a:xfrm>
            <a:off x="4667250" y="952500"/>
            <a:ext cx="1905000" cy="38100"/>
          </a:xfrm>
          <a:prstGeom prst="roundRect">
            <a:avLst>
              <a:gd name="adj" fmla="val 50000"/>
            </a:avLst>
          </a:prstGeom>
          <a:solidFill>
            <a:srgbClr val="8DA9C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6" name="Google Shape;256;p21"/>
          <p:cNvSpPr txBox="1"/>
          <p:nvPr/>
        </p:nvSpPr>
        <p:spPr>
          <a:xfrm>
            <a:off x="4810125" y="1066800"/>
            <a:ext cx="1619100" cy="61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48" b="0">
                <a:solidFill>
                  <a:srgbClr val="134074"/>
                </a:solidFill>
                <a:latin typeface="Inter SemiBold"/>
                <a:ea typeface="Inter SemiBold"/>
                <a:cs typeface="Inter SemiBold"/>
                <a:sym typeface="Inter SemiBold"/>
              </a:rPr>
              <a:t>OVERALL SURVIVAL</a:t>
            </a:r>
            <a:endParaRPr sz="648" b="0">
              <a:solidFill>
                <a:srgbClr val="134074"/>
              </a:solidFill>
              <a:latin typeface="Inter SemiBold"/>
              <a:ea typeface="Inter SemiBold"/>
              <a:cs typeface="Inter SemiBold"/>
              <a:sym typeface="Inter SemiBold"/>
            </a:endParaRPr>
          </a:p>
          <a:p>
            <a:pPr marL="0" lvl="0" indent="0" algn="l" rtl="0">
              <a:spcBef>
                <a:spcPts val="150"/>
              </a:spcBef>
              <a:spcAft>
                <a:spcPts val="0"/>
              </a:spcAft>
              <a:buNone/>
            </a:pPr>
            <a:r>
              <a:rPr lang="en-GB" sz="1665" b="1">
                <a:solidFill>
                  <a:srgbClr val="0B2545"/>
                </a:solidFill>
                <a:latin typeface="Montserrat"/>
                <a:ea typeface="Montserrat"/>
                <a:cs typeface="Montserrat"/>
                <a:sym typeface="Montserrat"/>
              </a:rPr>
              <a:t>89.0%</a:t>
            </a:r>
            <a:endParaRPr sz="1665" b="1">
              <a:solidFill>
                <a:srgbClr val="0B2545"/>
              </a:solidFill>
              <a:latin typeface="Montserrat"/>
              <a:ea typeface="Montserrat"/>
              <a:cs typeface="Montserrat"/>
              <a:sym typeface="Montserrat"/>
            </a:endParaRPr>
          </a:p>
          <a:p>
            <a:pPr marL="0" lvl="0" indent="0" algn="l" rtl="0">
              <a:spcBef>
                <a:spcPts val="150"/>
              </a:spcBef>
              <a:spcAft>
                <a:spcPts val="0"/>
              </a:spcAft>
              <a:buNone/>
            </a:pPr>
            <a:r>
              <a:rPr lang="en-GB" sz="694" b="0">
                <a:solidFill>
                  <a:srgbClr val="4A6582"/>
                </a:solidFill>
                <a:latin typeface="Inter"/>
                <a:ea typeface="Inter"/>
                <a:cs typeface="Inter"/>
                <a:sym typeface="Inter"/>
              </a:rPr>
              <a:t>Baseline lethality remains low overall (~11% fatal).</a:t>
            </a:r>
            <a:endParaRPr sz="694" b="0">
              <a:solidFill>
                <a:srgbClr val="4A6582"/>
              </a:solidFill>
              <a:latin typeface="Inter"/>
              <a:ea typeface="Inter"/>
              <a:cs typeface="Inter"/>
              <a:sym typeface="Inter"/>
            </a:endParaRPr>
          </a:p>
        </p:txBody>
      </p:sp>
      <p:sp>
        <p:nvSpPr>
          <p:cNvPr id="257" name="Google Shape;257;p21"/>
          <p:cNvSpPr/>
          <p:nvPr/>
        </p:nvSpPr>
        <p:spPr>
          <a:xfrm>
            <a:off x="381000" y="1905000"/>
            <a:ext cx="8382000" cy="2286000"/>
          </a:xfrm>
          <a:prstGeom prst="roundRect">
            <a:avLst>
              <a:gd name="adj" fmla="val 250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258" name="Google Shape;258;p21" descr="A calm beach with a lifeguard tower and tourists swimming safely in turquoise water, wide angle shot"/>
          <p:cNvPicPr preferRelativeResize="0"/>
          <p:nvPr/>
        </p:nvPicPr>
        <p:blipFill rotWithShape="1">
          <a:blip r:embed="rId4">
            <a:alphaModFix/>
          </a:blip>
          <a:srcRect t="8333" b="8333"/>
          <a:stretch/>
        </p:blipFill>
        <p:spPr>
          <a:xfrm>
            <a:off x="6429225" y="2143100"/>
            <a:ext cx="2286000" cy="1428900"/>
          </a:xfrm>
          <a:prstGeom prst="roundRect">
            <a:avLst>
              <a:gd name="adj" fmla="val 4000"/>
            </a:avLst>
          </a:prstGeom>
          <a:noFill/>
          <a:ln>
            <a:noFill/>
          </a:ln>
        </p:spPr>
      </p:pic>
      <p:sp>
        <p:nvSpPr>
          <p:cNvPr id="259" name="Google Shape;259;p21"/>
          <p:cNvSpPr txBox="1"/>
          <p:nvPr/>
        </p:nvSpPr>
        <p:spPr>
          <a:xfrm>
            <a:off x="619125" y="2047875"/>
            <a:ext cx="47625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100" b="0">
                <a:solidFill>
                  <a:srgbClr val="0B2545"/>
                </a:solidFill>
                <a:latin typeface="Montserrat SemiBold"/>
                <a:ea typeface="Montserrat SemiBold"/>
                <a:cs typeface="Montserrat SemiBold"/>
                <a:sym typeface="Montserrat SemiBold"/>
              </a:rPr>
              <a:t>10-YEAR HISTORICAL TREND (2016–2026)</a:t>
            </a:r>
            <a:endParaRPr sz="1100" b="0">
              <a:solidFill>
                <a:srgbClr val="0B2545"/>
              </a:solidFill>
              <a:latin typeface="Montserrat SemiBold"/>
              <a:ea typeface="Montserrat SemiBold"/>
              <a:cs typeface="Montserrat SemiBold"/>
              <a:sym typeface="Montserrat SemiBold"/>
            </a:endParaRPr>
          </a:p>
        </p:txBody>
      </p:sp>
      <p:cxnSp>
        <p:nvCxnSpPr>
          <p:cNvPr id="260" name="Google Shape;260;p21"/>
          <p:cNvCxnSpPr/>
          <p:nvPr/>
        </p:nvCxnSpPr>
        <p:spPr>
          <a:xfrm>
            <a:off x="619125" y="2476500"/>
            <a:ext cx="5476800" cy="0"/>
          </a:xfrm>
          <a:prstGeom prst="straightConnector1">
            <a:avLst/>
          </a:prstGeom>
          <a:solidFill>
            <a:srgbClr val="FFFFFF"/>
          </a:solidFill>
          <a:ln w="14300" cap="flat" cmpd="sng">
            <a:solidFill>
              <a:srgbClr val="F4F7F9"/>
            </a:solidFill>
            <a:prstDash val="solid"/>
            <a:round/>
            <a:headEnd type="none" w="sm" len="sm"/>
            <a:tailEnd type="none" w="sm" len="sm"/>
          </a:ln>
        </p:spPr>
      </p:cxnSp>
      <p:cxnSp>
        <p:nvCxnSpPr>
          <p:cNvPr id="261" name="Google Shape;261;p21"/>
          <p:cNvCxnSpPr/>
          <p:nvPr/>
        </p:nvCxnSpPr>
        <p:spPr>
          <a:xfrm>
            <a:off x="619125" y="2857500"/>
            <a:ext cx="5476800" cy="0"/>
          </a:xfrm>
          <a:prstGeom prst="straightConnector1">
            <a:avLst/>
          </a:prstGeom>
          <a:solidFill>
            <a:srgbClr val="FFFFFF"/>
          </a:solidFill>
          <a:ln w="14300" cap="flat" cmpd="sng">
            <a:solidFill>
              <a:srgbClr val="F4F7F9"/>
            </a:solidFill>
            <a:prstDash val="solid"/>
            <a:round/>
            <a:headEnd type="none" w="sm" len="sm"/>
            <a:tailEnd type="none" w="sm" len="sm"/>
          </a:ln>
        </p:spPr>
      </p:cxnSp>
      <p:cxnSp>
        <p:nvCxnSpPr>
          <p:cNvPr id="262" name="Google Shape;262;p21"/>
          <p:cNvCxnSpPr/>
          <p:nvPr/>
        </p:nvCxnSpPr>
        <p:spPr>
          <a:xfrm>
            <a:off x="619125" y="3238500"/>
            <a:ext cx="5476800" cy="0"/>
          </a:xfrm>
          <a:prstGeom prst="straightConnector1">
            <a:avLst/>
          </a:prstGeom>
          <a:solidFill>
            <a:srgbClr val="FFFFFF"/>
          </a:solidFill>
          <a:ln w="14300" cap="flat" cmpd="sng">
            <a:solidFill>
              <a:srgbClr val="F4F7F9"/>
            </a:solidFill>
            <a:prstDash val="solid"/>
            <a:round/>
            <a:headEnd type="none" w="sm" len="sm"/>
            <a:tailEnd type="none" w="sm" len="sm"/>
          </a:ln>
        </p:spPr>
      </p:cxnSp>
      <p:cxnSp>
        <p:nvCxnSpPr>
          <p:cNvPr id="263" name="Google Shape;263;p21"/>
          <p:cNvCxnSpPr/>
          <p:nvPr/>
        </p:nvCxnSpPr>
        <p:spPr>
          <a:xfrm>
            <a:off x="619125" y="3619500"/>
            <a:ext cx="5476800" cy="0"/>
          </a:xfrm>
          <a:prstGeom prst="straightConnector1">
            <a:avLst/>
          </a:prstGeom>
          <a:solidFill>
            <a:srgbClr val="FFFFFF"/>
          </a:solidFill>
          <a:ln w="14300" cap="flat" cmpd="sng">
            <a:solidFill>
              <a:srgbClr val="E2E8F0"/>
            </a:solidFill>
            <a:prstDash val="solid"/>
            <a:round/>
            <a:headEnd type="none" w="sm" len="sm"/>
            <a:tailEnd type="none" w="sm" len="sm"/>
          </a:ln>
        </p:spPr>
      </p:cxnSp>
      <p:sp>
        <p:nvSpPr>
          <p:cNvPr id="264" name="Google Shape;264;p21"/>
          <p:cNvSpPr txBox="1"/>
          <p:nvPr/>
        </p:nvSpPr>
        <p:spPr>
          <a:xfrm>
            <a:off x="619125" y="3714750"/>
            <a:ext cx="4764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94" b="0">
                <a:solidFill>
                  <a:srgbClr val="4A6582"/>
                </a:solidFill>
                <a:latin typeface="Inter SemiBold"/>
                <a:ea typeface="Inter SemiBold"/>
                <a:cs typeface="Inter SemiBold"/>
                <a:sym typeface="Inter SemiBold"/>
              </a:rPr>
              <a:t>2016</a:t>
            </a:r>
            <a:endParaRPr sz="694" b="0">
              <a:solidFill>
                <a:srgbClr val="4A6582"/>
              </a:solidFill>
              <a:latin typeface="Inter SemiBold"/>
              <a:ea typeface="Inter SemiBold"/>
              <a:cs typeface="Inter SemiBold"/>
              <a:sym typeface="Inter SemiBold"/>
            </a:endParaRPr>
          </a:p>
        </p:txBody>
      </p:sp>
      <p:sp>
        <p:nvSpPr>
          <p:cNvPr id="265" name="Google Shape;265;p21"/>
          <p:cNvSpPr txBox="1"/>
          <p:nvPr/>
        </p:nvSpPr>
        <p:spPr>
          <a:xfrm>
            <a:off x="1714500" y="3714750"/>
            <a:ext cx="4764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94" b="0">
                <a:solidFill>
                  <a:srgbClr val="4A6582"/>
                </a:solidFill>
                <a:latin typeface="Inter SemiBold"/>
                <a:ea typeface="Inter SemiBold"/>
                <a:cs typeface="Inter SemiBold"/>
                <a:sym typeface="Inter SemiBold"/>
              </a:rPr>
              <a:t>2018</a:t>
            </a:r>
            <a:endParaRPr sz="694" b="0">
              <a:solidFill>
                <a:srgbClr val="4A6582"/>
              </a:solidFill>
              <a:latin typeface="Inter SemiBold"/>
              <a:ea typeface="Inter SemiBold"/>
              <a:cs typeface="Inter SemiBold"/>
              <a:sym typeface="Inter SemiBold"/>
            </a:endParaRPr>
          </a:p>
        </p:txBody>
      </p:sp>
      <p:sp>
        <p:nvSpPr>
          <p:cNvPr id="266" name="Google Shape;266;p21"/>
          <p:cNvSpPr txBox="1"/>
          <p:nvPr/>
        </p:nvSpPr>
        <p:spPr>
          <a:xfrm>
            <a:off x="2809875" y="3714750"/>
            <a:ext cx="4764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94" b="0">
                <a:solidFill>
                  <a:srgbClr val="4A6582"/>
                </a:solidFill>
                <a:latin typeface="Inter SemiBold"/>
                <a:ea typeface="Inter SemiBold"/>
                <a:cs typeface="Inter SemiBold"/>
                <a:sym typeface="Inter SemiBold"/>
              </a:rPr>
              <a:t>2020</a:t>
            </a:r>
            <a:endParaRPr sz="694" b="0">
              <a:solidFill>
                <a:srgbClr val="4A6582"/>
              </a:solidFill>
              <a:latin typeface="Inter SemiBold"/>
              <a:ea typeface="Inter SemiBold"/>
              <a:cs typeface="Inter SemiBold"/>
              <a:sym typeface="Inter SemiBold"/>
            </a:endParaRPr>
          </a:p>
        </p:txBody>
      </p:sp>
      <p:sp>
        <p:nvSpPr>
          <p:cNvPr id="267" name="Google Shape;267;p21"/>
          <p:cNvSpPr txBox="1"/>
          <p:nvPr/>
        </p:nvSpPr>
        <p:spPr>
          <a:xfrm>
            <a:off x="3905250" y="3714750"/>
            <a:ext cx="4764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94" b="0">
                <a:solidFill>
                  <a:srgbClr val="4A6582"/>
                </a:solidFill>
                <a:latin typeface="Inter SemiBold"/>
                <a:ea typeface="Inter SemiBold"/>
                <a:cs typeface="Inter SemiBold"/>
                <a:sym typeface="Inter SemiBold"/>
              </a:rPr>
              <a:t>2022</a:t>
            </a:r>
            <a:endParaRPr sz="694" b="0">
              <a:solidFill>
                <a:srgbClr val="4A6582"/>
              </a:solidFill>
              <a:latin typeface="Inter SemiBold"/>
              <a:ea typeface="Inter SemiBold"/>
              <a:cs typeface="Inter SemiBold"/>
              <a:sym typeface="Inter SemiBold"/>
            </a:endParaRPr>
          </a:p>
        </p:txBody>
      </p:sp>
      <p:sp>
        <p:nvSpPr>
          <p:cNvPr id="268" name="Google Shape;268;p21"/>
          <p:cNvSpPr txBox="1"/>
          <p:nvPr/>
        </p:nvSpPr>
        <p:spPr>
          <a:xfrm>
            <a:off x="5000625" y="3714750"/>
            <a:ext cx="4764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94" b="0">
                <a:solidFill>
                  <a:srgbClr val="4A6582"/>
                </a:solidFill>
                <a:latin typeface="Inter SemiBold"/>
                <a:ea typeface="Inter SemiBold"/>
                <a:cs typeface="Inter SemiBold"/>
                <a:sym typeface="Inter SemiBold"/>
              </a:rPr>
              <a:t>2024</a:t>
            </a:r>
            <a:endParaRPr sz="694" b="0">
              <a:solidFill>
                <a:srgbClr val="4A6582"/>
              </a:solidFill>
              <a:latin typeface="Inter SemiBold"/>
              <a:ea typeface="Inter SemiBold"/>
              <a:cs typeface="Inter SemiBold"/>
              <a:sym typeface="Inter SemiBold"/>
            </a:endParaRPr>
          </a:p>
        </p:txBody>
      </p:sp>
      <p:sp>
        <p:nvSpPr>
          <p:cNvPr id="269" name="Google Shape;269;p21"/>
          <p:cNvSpPr txBox="1"/>
          <p:nvPr/>
        </p:nvSpPr>
        <p:spPr>
          <a:xfrm>
            <a:off x="5857875" y="3714750"/>
            <a:ext cx="4764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94" b="0">
                <a:solidFill>
                  <a:srgbClr val="4A6582"/>
                </a:solidFill>
                <a:latin typeface="Inter SemiBold"/>
                <a:ea typeface="Inter SemiBold"/>
                <a:cs typeface="Inter SemiBold"/>
                <a:sym typeface="Inter SemiBold"/>
              </a:rPr>
              <a:t>2026</a:t>
            </a:r>
            <a:endParaRPr sz="694" b="0">
              <a:solidFill>
                <a:srgbClr val="4A6582"/>
              </a:solidFill>
              <a:latin typeface="Inter SemiBold"/>
              <a:ea typeface="Inter SemiBold"/>
              <a:cs typeface="Inter SemiBold"/>
              <a:sym typeface="Inter SemiBold"/>
            </a:endParaRPr>
          </a:p>
        </p:txBody>
      </p:sp>
      <p:sp>
        <p:nvSpPr>
          <p:cNvPr id="270" name="Google Shape;270;p21"/>
          <p:cNvSpPr/>
          <p:nvPr/>
        </p:nvSpPr>
        <p:spPr>
          <a:xfrm>
            <a:off x="857250" y="2571750"/>
            <a:ext cx="5238900" cy="1000200"/>
          </a:xfrm>
          <a:custGeom>
            <a:avLst/>
            <a:gdLst/>
            <a:ahLst/>
            <a:cxnLst/>
            <a:rect l="l" t="t" r="r" b="b"/>
            <a:pathLst>
              <a:path w="120000" h="120000" extrusionOk="0">
                <a:moveTo>
                  <a:pt x="0" y="0"/>
                </a:moveTo>
                <a:lnTo>
                  <a:pt x="25091" y="34286"/>
                </a:lnTo>
                <a:lnTo>
                  <a:pt x="50182" y="68571"/>
                </a:lnTo>
                <a:lnTo>
                  <a:pt x="75273" y="97143"/>
                </a:lnTo>
                <a:lnTo>
                  <a:pt x="100364" y="114286"/>
                </a:lnTo>
                <a:lnTo>
                  <a:pt x="120000" y="120000"/>
                </a:lnTo>
              </a:path>
            </a:pathLst>
          </a:custGeom>
          <a:solidFill>
            <a:srgbClr val="000000">
              <a:alpha val="0"/>
            </a:srgbClr>
          </a:solidFill>
          <a:ln w="33350" cap="rnd" cmpd="sng">
            <a:solidFill>
              <a:srgbClr val="1D70A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1" name="Google Shape;271;p21"/>
          <p:cNvSpPr/>
          <p:nvPr/>
        </p:nvSpPr>
        <p:spPr>
          <a:xfrm>
            <a:off x="814388" y="2528888"/>
            <a:ext cx="85800" cy="85800"/>
          </a:xfrm>
          <a:prstGeom prst="ellipse">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2" name="Google Shape;272;p21"/>
          <p:cNvSpPr/>
          <p:nvPr/>
        </p:nvSpPr>
        <p:spPr>
          <a:xfrm>
            <a:off x="1909763" y="2814638"/>
            <a:ext cx="85800" cy="85800"/>
          </a:xfrm>
          <a:prstGeom prst="ellipse">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3" name="Google Shape;273;p21"/>
          <p:cNvSpPr/>
          <p:nvPr/>
        </p:nvSpPr>
        <p:spPr>
          <a:xfrm>
            <a:off x="3005138" y="3100388"/>
            <a:ext cx="85800" cy="85800"/>
          </a:xfrm>
          <a:prstGeom prst="ellipse">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4" name="Google Shape;274;p21"/>
          <p:cNvSpPr/>
          <p:nvPr/>
        </p:nvSpPr>
        <p:spPr>
          <a:xfrm>
            <a:off x="4100513" y="3338513"/>
            <a:ext cx="85800" cy="85800"/>
          </a:xfrm>
          <a:prstGeom prst="ellipse">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5" name="Google Shape;275;p21"/>
          <p:cNvSpPr/>
          <p:nvPr/>
        </p:nvSpPr>
        <p:spPr>
          <a:xfrm>
            <a:off x="5195888" y="3481388"/>
            <a:ext cx="85800" cy="85800"/>
          </a:xfrm>
          <a:prstGeom prst="ellipse">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6" name="Google Shape;276;p21"/>
          <p:cNvSpPr/>
          <p:nvPr/>
        </p:nvSpPr>
        <p:spPr>
          <a:xfrm>
            <a:off x="6053138" y="3529013"/>
            <a:ext cx="85800" cy="85800"/>
          </a:xfrm>
          <a:prstGeom prst="ellipse">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277" name="Google Shape;277;p21"/>
          <p:cNvPicPr preferRelativeResize="0"/>
          <p:nvPr/>
        </p:nvPicPr>
        <p:blipFill rotWithShape="1">
          <a:blip r:embed="rId5">
            <a:alphaModFix/>
          </a:blip>
          <a:srcRect/>
          <a:stretch/>
        </p:blipFill>
        <p:spPr>
          <a:xfrm>
            <a:off x="838200" y="3124200"/>
            <a:ext cx="5277000" cy="133500"/>
          </a:xfrm>
          <a:prstGeom prst="rect">
            <a:avLst/>
          </a:prstGeom>
          <a:noFill/>
          <a:ln>
            <a:noFill/>
          </a:ln>
        </p:spPr>
      </p:pic>
      <p:sp>
        <p:nvSpPr>
          <p:cNvPr id="278" name="Google Shape;278;p21"/>
          <p:cNvSpPr/>
          <p:nvPr/>
        </p:nvSpPr>
        <p:spPr>
          <a:xfrm>
            <a:off x="814388" y="3195638"/>
            <a:ext cx="85800" cy="85800"/>
          </a:xfrm>
          <a:prstGeom prst="ellipse">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9" name="Google Shape;279;p21"/>
          <p:cNvSpPr/>
          <p:nvPr/>
        </p:nvSpPr>
        <p:spPr>
          <a:xfrm>
            <a:off x="1909763" y="3148013"/>
            <a:ext cx="85800" cy="85800"/>
          </a:xfrm>
          <a:prstGeom prst="ellipse">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0" name="Google Shape;280;p21"/>
          <p:cNvSpPr/>
          <p:nvPr/>
        </p:nvSpPr>
        <p:spPr>
          <a:xfrm>
            <a:off x="3005138" y="3176588"/>
            <a:ext cx="85800" cy="85800"/>
          </a:xfrm>
          <a:prstGeom prst="ellipse">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1" name="Google Shape;281;p21"/>
          <p:cNvSpPr/>
          <p:nvPr/>
        </p:nvSpPr>
        <p:spPr>
          <a:xfrm>
            <a:off x="4100513" y="3119438"/>
            <a:ext cx="85800" cy="85800"/>
          </a:xfrm>
          <a:prstGeom prst="ellipse">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2" name="Google Shape;282;p21"/>
          <p:cNvSpPr/>
          <p:nvPr/>
        </p:nvSpPr>
        <p:spPr>
          <a:xfrm>
            <a:off x="5195888" y="3148013"/>
            <a:ext cx="85800" cy="85800"/>
          </a:xfrm>
          <a:prstGeom prst="ellipse">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3" name="Google Shape;283;p21"/>
          <p:cNvSpPr/>
          <p:nvPr/>
        </p:nvSpPr>
        <p:spPr>
          <a:xfrm>
            <a:off x="6053138" y="3100388"/>
            <a:ext cx="85800" cy="85800"/>
          </a:xfrm>
          <a:prstGeom prst="ellipse">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284" name="Google Shape;284;p21"/>
          <p:cNvCxnSpPr/>
          <p:nvPr/>
        </p:nvCxnSpPr>
        <p:spPr>
          <a:xfrm>
            <a:off x="619125" y="3981450"/>
            <a:ext cx="54768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285" name="Google Shape;285;p21"/>
          <p:cNvSpPr/>
          <p:nvPr/>
        </p:nvSpPr>
        <p:spPr>
          <a:xfrm>
            <a:off x="1104900" y="4038600"/>
            <a:ext cx="76200" cy="76200"/>
          </a:xfrm>
          <a:prstGeom prst="ellipse">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6" name="Google Shape;286;p21"/>
          <p:cNvSpPr txBox="1"/>
          <p:nvPr/>
        </p:nvSpPr>
        <p:spPr>
          <a:xfrm>
            <a:off x="1238250" y="4000500"/>
            <a:ext cx="1714500" cy="152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b="0">
                <a:solidFill>
                  <a:srgbClr val="0B2545"/>
                </a:solidFill>
                <a:latin typeface="Inter SemiBold"/>
                <a:ea typeface="Inter SemiBold"/>
                <a:cs typeface="Inter SemiBold"/>
                <a:sym typeface="Inter SemiBold"/>
              </a:rPr>
              <a:t>Attack Volume (Dropped 48.6%)</a:t>
            </a:r>
            <a:endParaRPr sz="800" b="0">
              <a:solidFill>
                <a:srgbClr val="0B2545"/>
              </a:solidFill>
              <a:latin typeface="Inter SemiBold"/>
              <a:ea typeface="Inter SemiBold"/>
              <a:cs typeface="Inter SemiBold"/>
              <a:sym typeface="Inter SemiBold"/>
            </a:endParaRPr>
          </a:p>
        </p:txBody>
      </p:sp>
      <p:sp>
        <p:nvSpPr>
          <p:cNvPr id="287" name="Google Shape;287;p21"/>
          <p:cNvSpPr/>
          <p:nvPr/>
        </p:nvSpPr>
        <p:spPr>
          <a:xfrm>
            <a:off x="3390900" y="4038600"/>
            <a:ext cx="76200" cy="76200"/>
          </a:xfrm>
          <a:prstGeom prst="ellipse">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8" name="Google Shape;288;p21"/>
          <p:cNvSpPr txBox="1"/>
          <p:nvPr/>
        </p:nvSpPr>
        <p:spPr>
          <a:xfrm>
            <a:off x="3524250" y="4000500"/>
            <a:ext cx="2044800" cy="152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a:solidFill>
                  <a:srgbClr val="0B2545"/>
                </a:solidFill>
                <a:latin typeface="Inter SemiBold"/>
                <a:ea typeface="Inter SemiBold"/>
                <a:cs typeface="Inter SemiBold"/>
                <a:sym typeface="Inter SemiBold"/>
              </a:rPr>
              <a:t>Annual </a:t>
            </a:r>
            <a:r>
              <a:rPr lang="en-GB" sz="800" b="0">
                <a:solidFill>
                  <a:srgbClr val="0B2545"/>
                </a:solidFill>
                <a:latin typeface="Inter SemiBold"/>
                <a:ea typeface="Inter SemiBold"/>
                <a:cs typeface="Inter SemiBold"/>
                <a:sym typeface="Inter SemiBold"/>
              </a:rPr>
              <a:t>Fatality Rate ( Increased by </a:t>
            </a:r>
            <a:r>
              <a:rPr lang="en-GB" sz="800">
                <a:solidFill>
                  <a:srgbClr val="0B2545"/>
                </a:solidFill>
                <a:latin typeface="Inter SemiBold"/>
                <a:ea typeface="Inter SemiBold"/>
                <a:cs typeface="Inter SemiBold"/>
                <a:sym typeface="Inter SemiBold"/>
              </a:rPr>
              <a:t>8.7%)</a:t>
            </a:r>
            <a:endParaRPr sz="800" b="0">
              <a:solidFill>
                <a:srgbClr val="0B2545"/>
              </a:solidFill>
              <a:latin typeface="Inter SemiBold"/>
              <a:ea typeface="Inter SemiBold"/>
              <a:cs typeface="Inter SemiBold"/>
              <a:sym typeface="Inter SemiBold"/>
            </a:endParaRPr>
          </a:p>
        </p:txBody>
      </p:sp>
      <p:sp>
        <p:nvSpPr>
          <p:cNvPr id="289" name="Google Shape;289;p21"/>
          <p:cNvSpPr/>
          <p:nvPr/>
        </p:nvSpPr>
        <p:spPr>
          <a:xfrm>
            <a:off x="0" y="4238625"/>
            <a:ext cx="9144000" cy="904800"/>
          </a:xfrm>
          <a:custGeom>
            <a:avLst/>
            <a:gdLst/>
            <a:ahLst/>
            <a:cxnLst/>
            <a:rect l="l" t="t" r="r" b="b"/>
            <a:pathLst>
              <a:path w="120000" h="120000" extrusionOk="0">
                <a:moveTo>
                  <a:pt x="0" y="31579"/>
                </a:moveTo>
                <a:cubicBezTo>
                  <a:pt x="30000" y="0"/>
                  <a:pt x="60000" y="0"/>
                  <a:pt x="90000" y="31579"/>
                </a:cubicBezTo>
                <a:lnTo>
                  <a:pt x="120000" y="31579"/>
                </a:lnTo>
                <a:lnTo>
                  <a:pt x="120000" y="120000"/>
                </a:lnTo>
                <a:lnTo>
                  <a:pt x="0" y="120000"/>
                </a:lnTo>
                <a:close/>
              </a:path>
            </a:pathLst>
          </a:custGeom>
          <a:solidFill>
            <a:srgbClr val="0B254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3"/>
        <p:cNvGrpSpPr/>
        <p:nvPr/>
      </p:nvGrpSpPr>
      <p:grpSpPr>
        <a:xfrm>
          <a:off x="0" y="0"/>
          <a:ext cx="0" cy="0"/>
          <a:chOff x="0" y="0"/>
          <a:chExt cx="0" cy="0"/>
        </a:xfrm>
      </p:grpSpPr>
      <p:sp>
        <p:nvSpPr>
          <p:cNvPr id="294" name="Google Shape;294;p22"/>
          <p:cNvSpPr/>
          <p:nvPr/>
        </p:nvSpPr>
        <p:spPr>
          <a:xfrm>
            <a:off x="0" y="4318000"/>
            <a:ext cx="9144000" cy="825600"/>
          </a:xfrm>
          <a:custGeom>
            <a:avLst/>
            <a:gdLst/>
            <a:ahLst/>
            <a:cxnLst/>
            <a:rect l="l" t="t" r="r" b="b"/>
            <a:pathLst>
              <a:path w="120000" h="120000" extrusionOk="0">
                <a:moveTo>
                  <a:pt x="0" y="36923"/>
                </a:moveTo>
                <a:cubicBezTo>
                  <a:pt x="20000" y="0"/>
                  <a:pt x="40000" y="0"/>
                  <a:pt x="60000" y="36923"/>
                </a:cubicBezTo>
                <a:lnTo>
                  <a:pt x="120000" y="36923"/>
                </a:lnTo>
                <a:lnTo>
                  <a:pt x="120000" y="120000"/>
                </a:lnTo>
                <a:lnTo>
                  <a:pt x="0" y="120000"/>
                </a:lnTo>
                <a:close/>
              </a:path>
            </a:pathLst>
          </a:custGeom>
          <a:solidFill>
            <a:srgbClr val="0B2545">
              <a:alpha val="5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95" name="Google Shape;295;p22"/>
          <p:cNvGrpSpPr/>
          <p:nvPr/>
        </p:nvGrpSpPr>
        <p:grpSpPr>
          <a:xfrm>
            <a:off x="476250" y="266700"/>
            <a:ext cx="409575" cy="238200"/>
            <a:chOff x="95250" y="0"/>
            <a:chExt cx="409575" cy="238200"/>
          </a:xfrm>
        </p:grpSpPr>
        <p:sp>
          <p:nvSpPr>
            <p:cNvPr id="296" name="Google Shape;296;p22"/>
            <p:cNvSpPr/>
            <p:nvPr/>
          </p:nvSpPr>
          <p:spPr>
            <a:xfrm>
              <a:off x="95250" y="0"/>
              <a:ext cx="190500" cy="238200"/>
            </a:xfrm>
            <a:custGeom>
              <a:avLst/>
              <a:gdLst/>
              <a:ahLst/>
              <a:cxnLst/>
              <a:rect l="l" t="t" r="r" b="b"/>
              <a:pathLst>
                <a:path w="120000" h="120000" extrusionOk="0">
                  <a:moveTo>
                    <a:pt x="0" y="95995"/>
                  </a:moveTo>
                  <a:cubicBezTo>
                    <a:pt x="20000" y="47997"/>
                    <a:pt x="50000" y="15995"/>
                    <a:pt x="90000" y="0"/>
                  </a:cubicBezTo>
                  <a:cubicBezTo>
                    <a:pt x="70000" y="47997"/>
                    <a:pt x="80000" y="87997"/>
                    <a:pt x="120000" y="120000"/>
                  </a:cubicBezTo>
                  <a:lnTo>
                    <a:pt x="0" y="120000"/>
                  </a:lnTo>
                  <a:close/>
                </a:path>
              </a:pathLst>
            </a:cu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7" name="Google Shape;297;p22"/>
            <p:cNvSpPr/>
            <p:nvPr/>
          </p:nvSpPr>
          <p:spPr>
            <a:xfrm>
              <a:off x="333375" y="47625"/>
              <a:ext cx="38100" cy="190500"/>
            </a:xfrm>
            <a:prstGeom prst="rect">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8" name="Google Shape;298;p22"/>
            <p:cNvSpPr/>
            <p:nvPr/>
          </p:nvSpPr>
          <p:spPr>
            <a:xfrm>
              <a:off x="400050" y="114300"/>
              <a:ext cx="38100" cy="123900"/>
            </a:xfrm>
            <a:prstGeom prst="rect">
              <a:avLst/>
            </a:prstGeom>
            <a:solidFill>
              <a:srgbClr val="8DA9C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9" name="Google Shape;299;p22"/>
            <p:cNvSpPr/>
            <p:nvPr/>
          </p:nvSpPr>
          <p:spPr>
            <a:xfrm>
              <a:off x="466725" y="76200"/>
              <a:ext cx="38100" cy="162000"/>
            </a:xfrm>
            <a:prstGeom prst="rect">
              <a:avLst/>
            </a:prstGeom>
            <a:solidFill>
              <a:srgbClr val="0B254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300" name="Google Shape;300;p22"/>
          <p:cNvSpPr txBox="1"/>
          <p:nvPr/>
        </p:nvSpPr>
        <p:spPr>
          <a:xfrm>
            <a:off x="1047750" y="209550"/>
            <a:ext cx="77154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1800" b="1">
                <a:solidFill>
                  <a:srgbClr val="0B2545"/>
                </a:solidFill>
                <a:latin typeface="Montserrat"/>
                <a:ea typeface="Montserrat"/>
                <a:cs typeface="Montserrat"/>
                <a:sym typeface="Montserrat"/>
              </a:rPr>
              <a:t>What's More Likely to Kill You Than a Shark?</a:t>
            </a:r>
            <a:endParaRPr sz="1800" b="1">
              <a:solidFill>
                <a:srgbClr val="0B2545"/>
              </a:solidFill>
              <a:latin typeface="Montserrat"/>
              <a:ea typeface="Montserrat"/>
              <a:cs typeface="Montserrat"/>
              <a:sym typeface="Montserrat"/>
            </a:endParaRPr>
          </a:p>
        </p:txBody>
      </p:sp>
      <p:sp>
        <p:nvSpPr>
          <p:cNvPr id="301" name="Google Shape;301;p22"/>
          <p:cNvSpPr/>
          <p:nvPr/>
        </p:nvSpPr>
        <p:spPr>
          <a:xfrm>
            <a:off x="381000" y="685800"/>
            <a:ext cx="8382000" cy="9600"/>
          </a:xfrm>
          <a:prstGeom prst="rect">
            <a:avLst/>
          </a:prstGeom>
          <a:solidFill>
            <a:srgbClr val="8DA9C4">
              <a:alpha val="4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2" name="Google Shape;302;p22"/>
          <p:cNvSpPr txBox="1"/>
          <p:nvPr/>
        </p:nvSpPr>
        <p:spPr>
          <a:xfrm>
            <a:off x="381000" y="809625"/>
            <a:ext cx="8382000" cy="2859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100">
                <a:solidFill>
                  <a:srgbClr val="4A6582"/>
                </a:solidFill>
                <a:latin typeface="Inter"/>
                <a:ea typeface="Inter"/>
                <a:cs typeface="Inter"/>
                <a:sym typeface="Inter"/>
              </a:rPr>
              <a:t>Turns out… almost everything!</a:t>
            </a:r>
            <a:endParaRPr sz="1100" b="0">
              <a:solidFill>
                <a:srgbClr val="4A6582"/>
              </a:solidFill>
              <a:latin typeface="Inter"/>
              <a:ea typeface="Inter"/>
              <a:cs typeface="Inter"/>
              <a:sym typeface="Inter"/>
            </a:endParaRPr>
          </a:p>
        </p:txBody>
      </p:sp>
      <p:grpSp>
        <p:nvGrpSpPr>
          <p:cNvPr id="303" name="Google Shape;303;p22"/>
          <p:cNvGrpSpPr/>
          <p:nvPr/>
        </p:nvGrpSpPr>
        <p:grpSpPr>
          <a:xfrm>
            <a:off x="381000" y="1190625"/>
            <a:ext cx="4000500" cy="1285800"/>
            <a:chOff x="0" y="0"/>
            <a:chExt cx="4000500" cy="1285800"/>
          </a:xfrm>
        </p:grpSpPr>
        <p:sp>
          <p:nvSpPr>
            <p:cNvPr id="304" name="Google Shape;304;p22"/>
            <p:cNvSpPr/>
            <p:nvPr/>
          </p:nvSpPr>
          <p:spPr>
            <a:xfrm>
              <a:off x="0" y="0"/>
              <a:ext cx="4000500" cy="1285800"/>
            </a:xfrm>
            <a:prstGeom prst="roundRect">
              <a:avLst>
                <a:gd name="adj" fmla="val 4444"/>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5" name="Google Shape;305;p22"/>
            <p:cNvSpPr/>
            <p:nvPr/>
          </p:nvSpPr>
          <p:spPr>
            <a:xfrm>
              <a:off x="0" y="0"/>
              <a:ext cx="47700" cy="1285800"/>
            </a:xfrm>
            <a:prstGeom prst="roundRect">
              <a:avLst>
                <a:gd name="adj" fmla="val 40000"/>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6" name="Google Shape;306;p22"/>
            <p:cNvSpPr txBox="1"/>
            <p:nvPr/>
          </p:nvSpPr>
          <p:spPr>
            <a:xfrm>
              <a:off x="238125" y="142875"/>
              <a:ext cx="3571800" cy="10002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800" b="1" i="0">
                  <a:solidFill>
                    <a:srgbClr val="134074"/>
                  </a:solidFill>
                  <a:latin typeface="Montserrat"/>
                  <a:ea typeface="Montserrat"/>
                  <a:cs typeface="Montserrat"/>
                  <a:sym typeface="Montserrat"/>
                </a:rPr>
                <a:t>~150,000 Deaths / Year</a:t>
              </a:r>
              <a:endParaRPr sz="1800" b="1" i="0">
                <a:solidFill>
                  <a:srgbClr val="134074"/>
                </a:solidFill>
                <a:latin typeface="Montserrat"/>
                <a:ea typeface="Montserrat"/>
                <a:cs typeface="Montserrat"/>
                <a:sym typeface="Montserrat"/>
              </a:endParaRPr>
            </a:p>
            <a:p>
              <a:pPr marL="0" lvl="0" indent="0" algn="l" rtl="0">
                <a:spcBef>
                  <a:spcPts val="300"/>
                </a:spcBef>
                <a:spcAft>
                  <a:spcPts val="0"/>
                </a:spcAft>
                <a:buNone/>
              </a:pPr>
              <a:r>
                <a:rPr lang="en-GB" sz="1100" b="0" i="0">
                  <a:solidFill>
                    <a:srgbClr val="0B2545"/>
                  </a:solidFill>
                  <a:latin typeface="Montserrat SemiBold"/>
                  <a:ea typeface="Montserrat SemiBold"/>
                  <a:cs typeface="Montserrat SemiBold"/>
                  <a:sym typeface="Montserrat SemiBold"/>
                </a:rPr>
                <a:t>🌊 Drowning &amp; Rip Currents</a:t>
              </a:r>
              <a:endParaRPr sz="1100" b="1" i="0">
                <a:solidFill>
                  <a:srgbClr val="134074"/>
                </a:solidFill>
                <a:latin typeface="Montserrat"/>
                <a:ea typeface="Montserrat"/>
                <a:cs typeface="Montserrat"/>
                <a:sym typeface="Montserrat"/>
              </a:endParaRPr>
            </a:p>
            <a:p>
              <a:pPr marL="0" lvl="0" indent="0" algn="l" rtl="0">
                <a:spcBef>
                  <a:spcPts val="450"/>
                </a:spcBef>
                <a:spcAft>
                  <a:spcPts val="0"/>
                </a:spcAft>
                <a:buNone/>
              </a:pPr>
              <a:r>
                <a:rPr lang="en-GB" sz="950" b="0" i="0">
                  <a:solidFill>
                    <a:srgbClr val="4A6582"/>
                  </a:solidFill>
                  <a:latin typeface="Inter"/>
                  <a:ea typeface="Inter"/>
                  <a:cs typeface="Inter"/>
                  <a:sym typeface="Inter"/>
                </a:rPr>
                <a:t>Accidental drowning in coastal waters, lakes, and rivers claims over 150,000 lives annually—over 10,000x deadlier than sharks.</a:t>
              </a:r>
              <a:endParaRPr sz="950" b="1" i="0">
                <a:solidFill>
                  <a:srgbClr val="134074"/>
                </a:solidFill>
                <a:latin typeface="Montserrat"/>
                <a:ea typeface="Montserrat"/>
                <a:cs typeface="Montserrat"/>
                <a:sym typeface="Montserrat"/>
              </a:endParaRPr>
            </a:p>
          </p:txBody>
        </p:sp>
      </p:grpSp>
      <p:grpSp>
        <p:nvGrpSpPr>
          <p:cNvPr id="307" name="Google Shape;307;p22"/>
          <p:cNvGrpSpPr/>
          <p:nvPr/>
        </p:nvGrpSpPr>
        <p:grpSpPr>
          <a:xfrm>
            <a:off x="4762500" y="1190625"/>
            <a:ext cx="4000500" cy="1285800"/>
            <a:chOff x="0" y="0"/>
            <a:chExt cx="4000500" cy="1285800"/>
          </a:xfrm>
        </p:grpSpPr>
        <p:sp>
          <p:nvSpPr>
            <p:cNvPr id="308" name="Google Shape;308;p22"/>
            <p:cNvSpPr/>
            <p:nvPr/>
          </p:nvSpPr>
          <p:spPr>
            <a:xfrm>
              <a:off x="0" y="0"/>
              <a:ext cx="4000500" cy="1285800"/>
            </a:xfrm>
            <a:prstGeom prst="roundRect">
              <a:avLst>
                <a:gd name="adj" fmla="val 4444"/>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9" name="Google Shape;309;p22"/>
            <p:cNvSpPr/>
            <p:nvPr/>
          </p:nvSpPr>
          <p:spPr>
            <a:xfrm>
              <a:off x="0" y="0"/>
              <a:ext cx="47700" cy="1285800"/>
            </a:xfrm>
            <a:prstGeom prst="roundRect">
              <a:avLst>
                <a:gd name="adj" fmla="val 40000"/>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0" name="Google Shape;310;p22"/>
            <p:cNvSpPr txBox="1"/>
            <p:nvPr/>
          </p:nvSpPr>
          <p:spPr>
            <a:xfrm>
              <a:off x="238125" y="142875"/>
              <a:ext cx="3571800" cy="10002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800" b="1" i="0">
                  <a:solidFill>
                    <a:srgbClr val="134074"/>
                  </a:solidFill>
                  <a:latin typeface="Montserrat"/>
                  <a:ea typeface="Montserrat"/>
                  <a:cs typeface="Montserrat"/>
                  <a:sym typeface="Montserrat"/>
                </a:rPr>
                <a:t>~6,000–24,000 Deaths / Year</a:t>
              </a:r>
              <a:endParaRPr sz="1800" b="1" i="0">
                <a:solidFill>
                  <a:srgbClr val="134074"/>
                </a:solidFill>
                <a:latin typeface="Montserrat"/>
                <a:ea typeface="Montserrat"/>
                <a:cs typeface="Montserrat"/>
                <a:sym typeface="Montserrat"/>
              </a:endParaRPr>
            </a:p>
            <a:p>
              <a:pPr marL="0" lvl="0" indent="0" algn="l" rtl="0">
                <a:spcBef>
                  <a:spcPts val="300"/>
                </a:spcBef>
                <a:spcAft>
                  <a:spcPts val="0"/>
                </a:spcAft>
                <a:buNone/>
              </a:pPr>
              <a:r>
                <a:rPr lang="en-GB" sz="1100" b="0" i="0">
                  <a:solidFill>
                    <a:srgbClr val="0B2545"/>
                  </a:solidFill>
                  <a:latin typeface="Montserrat SemiBold"/>
                  <a:ea typeface="Montserrat SemiBold"/>
                  <a:cs typeface="Montserrat SemiBold"/>
                  <a:sym typeface="Montserrat SemiBold"/>
                </a:rPr>
                <a:t>⚡ Lightning Strikes</a:t>
              </a:r>
              <a:endParaRPr sz="1100" b="1" i="0">
                <a:solidFill>
                  <a:srgbClr val="134074"/>
                </a:solidFill>
                <a:latin typeface="Montserrat"/>
                <a:ea typeface="Montserrat"/>
                <a:cs typeface="Montserrat"/>
                <a:sym typeface="Montserrat"/>
              </a:endParaRPr>
            </a:p>
            <a:p>
              <a:pPr marL="0" lvl="0" indent="0" algn="l" rtl="0">
                <a:spcBef>
                  <a:spcPts val="450"/>
                </a:spcBef>
                <a:spcAft>
                  <a:spcPts val="0"/>
                </a:spcAft>
                <a:buNone/>
              </a:pPr>
              <a:r>
                <a:rPr lang="en-GB" sz="950" b="0" i="0">
                  <a:solidFill>
                    <a:srgbClr val="4A6582"/>
                  </a:solidFill>
                  <a:latin typeface="Inter"/>
                  <a:ea typeface="Inter"/>
                  <a:cs typeface="Inter"/>
                  <a:sym typeface="Inter"/>
                </a:rPr>
                <a:t>Global lightning strikes claim 6,000–24,000 lives each year, making flat coastal environments hundreds of times deadlier than sharks.</a:t>
              </a:r>
              <a:endParaRPr sz="950" b="1" i="0">
                <a:solidFill>
                  <a:srgbClr val="134074"/>
                </a:solidFill>
                <a:latin typeface="Montserrat"/>
                <a:ea typeface="Montserrat"/>
                <a:cs typeface="Montserrat"/>
                <a:sym typeface="Montserrat"/>
              </a:endParaRPr>
            </a:p>
          </p:txBody>
        </p:sp>
      </p:grpSp>
      <p:grpSp>
        <p:nvGrpSpPr>
          <p:cNvPr id="311" name="Google Shape;311;p22"/>
          <p:cNvGrpSpPr/>
          <p:nvPr/>
        </p:nvGrpSpPr>
        <p:grpSpPr>
          <a:xfrm>
            <a:off x="381000" y="2619375"/>
            <a:ext cx="4000500" cy="1285800"/>
            <a:chOff x="0" y="0"/>
            <a:chExt cx="4000500" cy="1285800"/>
          </a:xfrm>
        </p:grpSpPr>
        <p:sp>
          <p:nvSpPr>
            <p:cNvPr id="312" name="Google Shape;312;p22"/>
            <p:cNvSpPr/>
            <p:nvPr/>
          </p:nvSpPr>
          <p:spPr>
            <a:xfrm>
              <a:off x="0" y="0"/>
              <a:ext cx="4000500" cy="1285800"/>
            </a:xfrm>
            <a:prstGeom prst="roundRect">
              <a:avLst>
                <a:gd name="adj" fmla="val 4444"/>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3" name="Google Shape;313;p22"/>
            <p:cNvSpPr/>
            <p:nvPr/>
          </p:nvSpPr>
          <p:spPr>
            <a:xfrm>
              <a:off x="0" y="0"/>
              <a:ext cx="47700" cy="1285800"/>
            </a:xfrm>
            <a:prstGeom prst="roundRect">
              <a:avLst>
                <a:gd name="adj" fmla="val 40000"/>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4" name="Google Shape;314;p22"/>
            <p:cNvSpPr txBox="1"/>
            <p:nvPr/>
          </p:nvSpPr>
          <p:spPr>
            <a:xfrm>
              <a:off x="238125" y="142875"/>
              <a:ext cx="3571800" cy="10002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800" b="1" i="0">
                  <a:solidFill>
                    <a:srgbClr val="134074"/>
                  </a:solidFill>
                  <a:latin typeface="Montserrat"/>
                  <a:ea typeface="Montserrat"/>
                  <a:cs typeface="Montserrat"/>
                  <a:sym typeface="Montserrat"/>
                </a:rPr>
                <a:t>~50–100 Deaths / Year</a:t>
              </a:r>
              <a:endParaRPr sz="1800" b="1" i="0">
                <a:solidFill>
                  <a:srgbClr val="134074"/>
                </a:solidFill>
                <a:latin typeface="Montserrat"/>
                <a:ea typeface="Montserrat"/>
                <a:cs typeface="Montserrat"/>
                <a:sym typeface="Montserrat"/>
              </a:endParaRPr>
            </a:p>
            <a:p>
              <a:pPr marL="0" lvl="0" indent="0" algn="l" rtl="0">
                <a:spcBef>
                  <a:spcPts val="300"/>
                </a:spcBef>
                <a:spcAft>
                  <a:spcPts val="0"/>
                </a:spcAft>
                <a:buNone/>
              </a:pPr>
              <a:r>
                <a:rPr lang="en-GB" sz="1100" b="0" i="0">
                  <a:solidFill>
                    <a:srgbClr val="0B2545"/>
                  </a:solidFill>
                  <a:latin typeface="Montserrat SemiBold"/>
                  <a:ea typeface="Montserrat SemiBold"/>
                  <a:cs typeface="Montserrat SemiBold"/>
                  <a:sym typeface="Montserrat SemiBold"/>
                </a:rPr>
                <a:t>🪼 Box Jellyfish</a:t>
              </a:r>
              <a:endParaRPr sz="1100" b="1" i="0">
                <a:solidFill>
                  <a:srgbClr val="134074"/>
                </a:solidFill>
                <a:latin typeface="Montserrat"/>
                <a:ea typeface="Montserrat"/>
                <a:cs typeface="Montserrat"/>
                <a:sym typeface="Montserrat"/>
              </a:endParaRPr>
            </a:p>
            <a:p>
              <a:pPr marL="0" lvl="0" indent="0" algn="l" rtl="0">
                <a:spcBef>
                  <a:spcPts val="450"/>
                </a:spcBef>
                <a:spcAft>
                  <a:spcPts val="0"/>
                </a:spcAft>
                <a:buNone/>
              </a:pPr>
              <a:r>
                <a:rPr lang="en-GB" sz="950" b="0" i="0">
                  <a:solidFill>
                    <a:srgbClr val="4A6582"/>
                  </a:solidFill>
                  <a:latin typeface="Inter"/>
                  <a:ea typeface="Inter"/>
                  <a:cs typeface="Inter"/>
                  <a:sym typeface="Inter"/>
                </a:rPr>
                <a:t>Venomous box jellyfish in tropical waters cause 50–100 confirmed fatalities globally each year, roughly 5–9x more than sharks.</a:t>
              </a:r>
              <a:endParaRPr sz="950" b="1" i="0">
                <a:solidFill>
                  <a:srgbClr val="134074"/>
                </a:solidFill>
                <a:latin typeface="Montserrat"/>
                <a:ea typeface="Montserrat"/>
                <a:cs typeface="Montserrat"/>
                <a:sym typeface="Montserrat"/>
              </a:endParaRPr>
            </a:p>
          </p:txBody>
        </p:sp>
      </p:grpSp>
      <p:grpSp>
        <p:nvGrpSpPr>
          <p:cNvPr id="315" name="Google Shape;315;p22"/>
          <p:cNvGrpSpPr/>
          <p:nvPr/>
        </p:nvGrpSpPr>
        <p:grpSpPr>
          <a:xfrm>
            <a:off x="4762500" y="2619375"/>
            <a:ext cx="4000500" cy="1285800"/>
            <a:chOff x="0" y="0"/>
            <a:chExt cx="4000500" cy="1285800"/>
          </a:xfrm>
        </p:grpSpPr>
        <p:sp>
          <p:nvSpPr>
            <p:cNvPr id="316" name="Google Shape;316;p22"/>
            <p:cNvSpPr/>
            <p:nvPr/>
          </p:nvSpPr>
          <p:spPr>
            <a:xfrm>
              <a:off x="0" y="0"/>
              <a:ext cx="4000500" cy="1285800"/>
            </a:xfrm>
            <a:prstGeom prst="roundRect">
              <a:avLst>
                <a:gd name="adj" fmla="val 4444"/>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7" name="Google Shape;317;p22"/>
            <p:cNvSpPr/>
            <p:nvPr/>
          </p:nvSpPr>
          <p:spPr>
            <a:xfrm>
              <a:off x="0" y="0"/>
              <a:ext cx="47700" cy="1285800"/>
            </a:xfrm>
            <a:prstGeom prst="roundRect">
              <a:avLst>
                <a:gd name="adj" fmla="val 40000"/>
              </a:avLst>
            </a:pr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8" name="Google Shape;318;p22"/>
            <p:cNvSpPr txBox="1"/>
            <p:nvPr/>
          </p:nvSpPr>
          <p:spPr>
            <a:xfrm>
              <a:off x="238125" y="142875"/>
              <a:ext cx="3571800" cy="10002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800" b="1" i="0">
                  <a:solidFill>
                    <a:srgbClr val="134074"/>
                  </a:solidFill>
                  <a:latin typeface="Montserrat"/>
                  <a:ea typeface="Montserrat"/>
                  <a:cs typeface="Montserrat"/>
                  <a:sym typeface="Montserrat"/>
                </a:rPr>
                <a:t>~30–40 Deaths / Year</a:t>
              </a:r>
              <a:endParaRPr sz="1800" b="1" i="0">
                <a:solidFill>
                  <a:srgbClr val="134074"/>
                </a:solidFill>
                <a:latin typeface="Montserrat"/>
                <a:ea typeface="Montserrat"/>
                <a:cs typeface="Montserrat"/>
                <a:sym typeface="Montserrat"/>
              </a:endParaRPr>
            </a:p>
            <a:p>
              <a:pPr marL="0" lvl="0" indent="0" algn="l" rtl="0">
                <a:spcBef>
                  <a:spcPts val="300"/>
                </a:spcBef>
                <a:spcAft>
                  <a:spcPts val="0"/>
                </a:spcAft>
                <a:buNone/>
              </a:pPr>
              <a:r>
                <a:rPr lang="en-GB" sz="1100" b="0" i="0">
                  <a:solidFill>
                    <a:srgbClr val="0B2545"/>
                  </a:solidFill>
                  <a:latin typeface="Montserrat SemiBold"/>
                  <a:ea typeface="Montserrat SemiBold"/>
                  <a:cs typeface="Montserrat SemiBold"/>
                  <a:sym typeface="Montserrat SemiBold"/>
                </a:rPr>
                <a:t>🤳 Extreme Travel Selfies</a:t>
              </a:r>
              <a:endParaRPr sz="1100" b="1" i="0">
                <a:solidFill>
                  <a:srgbClr val="134074"/>
                </a:solidFill>
                <a:latin typeface="Montserrat"/>
                <a:ea typeface="Montserrat"/>
                <a:cs typeface="Montserrat"/>
                <a:sym typeface="Montserrat"/>
              </a:endParaRPr>
            </a:p>
            <a:p>
              <a:pPr marL="0" lvl="0" indent="0" algn="l" rtl="0">
                <a:spcBef>
                  <a:spcPts val="450"/>
                </a:spcBef>
                <a:spcAft>
                  <a:spcPts val="0"/>
                </a:spcAft>
                <a:buNone/>
              </a:pPr>
              <a:r>
                <a:rPr lang="en-GB" sz="950" b="0" i="0">
                  <a:solidFill>
                    <a:srgbClr val="4A6582"/>
                  </a:solidFill>
                  <a:latin typeface="Inter"/>
                  <a:ea typeface="Inter"/>
                  <a:cs typeface="Inter"/>
                  <a:sym typeface="Inter"/>
                </a:rPr>
                <a:t>Risky selfie attempts on scenic cliffs and high viewpoints claim 30–40 lives annually, making photos 3–4x deadlier than sharks.</a:t>
              </a:r>
              <a:endParaRPr sz="950" b="1" i="0">
                <a:solidFill>
                  <a:srgbClr val="134074"/>
                </a:solidFill>
                <a:latin typeface="Montserrat"/>
                <a:ea typeface="Montserrat"/>
                <a:cs typeface="Montserrat"/>
                <a:sym typeface="Montserrat"/>
              </a:endParaRPr>
            </a:p>
          </p:txBody>
        </p:sp>
      </p:grpSp>
      <p:grpSp>
        <p:nvGrpSpPr>
          <p:cNvPr id="319" name="Google Shape;319;p22"/>
          <p:cNvGrpSpPr/>
          <p:nvPr/>
        </p:nvGrpSpPr>
        <p:grpSpPr>
          <a:xfrm>
            <a:off x="381000" y="4048125"/>
            <a:ext cx="8382000" cy="400200"/>
            <a:chOff x="0" y="0"/>
            <a:chExt cx="8382000" cy="400200"/>
          </a:xfrm>
        </p:grpSpPr>
        <p:sp>
          <p:nvSpPr>
            <p:cNvPr id="320" name="Google Shape;320;p22"/>
            <p:cNvSpPr/>
            <p:nvPr/>
          </p:nvSpPr>
          <p:spPr>
            <a:xfrm>
              <a:off x="0" y="0"/>
              <a:ext cx="8382000" cy="400200"/>
            </a:xfrm>
            <a:prstGeom prst="roundRect">
              <a:avLst>
                <a:gd name="adj" fmla="val 14285"/>
              </a:avLst>
            </a:prstGeom>
            <a:solidFill>
              <a:srgbClr val="0B254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1" name="Google Shape;321;p22"/>
            <p:cNvSpPr txBox="1"/>
            <p:nvPr/>
          </p:nvSpPr>
          <p:spPr>
            <a:xfrm>
              <a:off x="190500" y="57150"/>
              <a:ext cx="80010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GB" sz="1100" b="1" i="0">
                  <a:solidFill>
                    <a:srgbClr val="FFFFFF"/>
                  </a:solidFill>
                  <a:latin typeface="Montserrat"/>
                  <a:ea typeface="Montserrat"/>
                  <a:cs typeface="Montserrat"/>
                  <a:sym typeface="Montserrat"/>
                </a:rPr>
                <a:t>🦈 SHARK ATTACK STATISTICAL REALITY: </a:t>
              </a:r>
              <a:r>
                <a:rPr lang="en-GB" sz="1050" b="0" i="0">
                  <a:solidFill>
                    <a:srgbClr val="8DA9C4"/>
                  </a:solidFill>
                  <a:latin typeface="Montserrat SemiBold"/>
                  <a:ea typeface="Montserrat SemiBold"/>
                  <a:cs typeface="Montserrat SemiBold"/>
                  <a:sym typeface="Montserrat SemiBold"/>
                </a:rPr>
                <a:t>~11 Fatalities / Year Worldwide  </a:t>
              </a:r>
              <a:endParaRPr sz="1100" b="1" i="0">
                <a:solidFill>
                  <a:srgbClr val="FFFFFF"/>
                </a:solidFill>
                <a:latin typeface="Montserrat"/>
                <a:ea typeface="Montserrat"/>
                <a:cs typeface="Montserrat"/>
                <a:sym typeface="Montserrat"/>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Shape 325"/>
        <p:cNvGrpSpPr/>
        <p:nvPr/>
      </p:nvGrpSpPr>
      <p:grpSpPr>
        <a:xfrm>
          <a:off x="0" y="0"/>
          <a:ext cx="0" cy="0"/>
          <a:chOff x="0" y="0"/>
          <a:chExt cx="0" cy="0"/>
        </a:xfrm>
      </p:grpSpPr>
      <p:grpSp>
        <p:nvGrpSpPr>
          <p:cNvPr id="326" name="Google Shape;326;p23"/>
          <p:cNvGrpSpPr/>
          <p:nvPr/>
        </p:nvGrpSpPr>
        <p:grpSpPr>
          <a:xfrm>
            <a:off x="476250" y="285750"/>
            <a:ext cx="409575" cy="238200"/>
            <a:chOff x="95250" y="0"/>
            <a:chExt cx="409575" cy="238200"/>
          </a:xfrm>
        </p:grpSpPr>
        <p:sp>
          <p:nvSpPr>
            <p:cNvPr id="327" name="Google Shape;327;p23"/>
            <p:cNvSpPr/>
            <p:nvPr/>
          </p:nvSpPr>
          <p:spPr>
            <a:xfrm>
              <a:off x="95250" y="0"/>
              <a:ext cx="190500" cy="238200"/>
            </a:xfrm>
            <a:custGeom>
              <a:avLst/>
              <a:gdLst/>
              <a:ahLst/>
              <a:cxnLst/>
              <a:rect l="l" t="t" r="r" b="b"/>
              <a:pathLst>
                <a:path w="120000" h="120000" extrusionOk="0">
                  <a:moveTo>
                    <a:pt x="0" y="95995"/>
                  </a:moveTo>
                  <a:cubicBezTo>
                    <a:pt x="20000" y="47997"/>
                    <a:pt x="50000" y="15995"/>
                    <a:pt x="90000" y="0"/>
                  </a:cubicBezTo>
                  <a:cubicBezTo>
                    <a:pt x="70000" y="47997"/>
                    <a:pt x="80000" y="87997"/>
                    <a:pt x="120000" y="120000"/>
                  </a:cubicBezTo>
                  <a:lnTo>
                    <a:pt x="0" y="120000"/>
                  </a:lnTo>
                  <a:close/>
                </a:path>
              </a:pathLst>
            </a:custGeom>
            <a:solidFill>
              <a:srgbClr val="13407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8" name="Google Shape;328;p23"/>
            <p:cNvSpPr/>
            <p:nvPr/>
          </p:nvSpPr>
          <p:spPr>
            <a:xfrm>
              <a:off x="333375" y="47625"/>
              <a:ext cx="38100" cy="190500"/>
            </a:xfrm>
            <a:prstGeom prst="rect">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9" name="Google Shape;329;p23"/>
            <p:cNvSpPr/>
            <p:nvPr/>
          </p:nvSpPr>
          <p:spPr>
            <a:xfrm>
              <a:off x="400050" y="114300"/>
              <a:ext cx="38100" cy="123900"/>
            </a:xfrm>
            <a:prstGeom prst="rect">
              <a:avLst/>
            </a:prstGeom>
            <a:solidFill>
              <a:srgbClr val="8DA9C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0" name="Google Shape;330;p23"/>
            <p:cNvSpPr/>
            <p:nvPr/>
          </p:nvSpPr>
          <p:spPr>
            <a:xfrm>
              <a:off x="466725" y="76200"/>
              <a:ext cx="38100" cy="162000"/>
            </a:xfrm>
            <a:prstGeom prst="rect">
              <a:avLst/>
            </a:prstGeom>
            <a:solidFill>
              <a:srgbClr val="0B254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331" name="Google Shape;331;p23"/>
          <p:cNvSpPr txBox="1"/>
          <p:nvPr/>
        </p:nvSpPr>
        <p:spPr>
          <a:xfrm>
            <a:off x="1047750" y="238125"/>
            <a:ext cx="3810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400" b="1">
                <a:solidFill>
                  <a:srgbClr val="134074"/>
                </a:solidFill>
                <a:latin typeface="Montserrat"/>
                <a:ea typeface="Montserrat"/>
                <a:cs typeface="Montserrat"/>
                <a:sym typeface="Montserrat"/>
              </a:rPr>
              <a:t>SharkSafe Marine Travel</a:t>
            </a:r>
            <a:endParaRPr sz="1400" b="1">
              <a:solidFill>
                <a:srgbClr val="134074"/>
              </a:solidFill>
              <a:latin typeface="Montserrat"/>
              <a:ea typeface="Montserrat"/>
              <a:cs typeface="Montserrat"/>
              <a:sym typeface="Montserrat"/>
            </a:endParaRPr>
          </a:p>
        </p:txBody>
      </p:sp>
      <p:sp>
        <p:nvSpPr>
          <p:cNvPr id="332" name="Google Shape;332;p23"/>
          <p:cNvSpPr/>
          <p:nvPr/>
        </p:nvSpPr>
        <p:spPr>
          <a:xfrm>
            <a:off x="381000" y="857250"/>
            <a:ext cx="8382000" cy="3238500"/>
          </a:xfrm>
          <a:prstGeom prst="roundRect">
            <a:avLst>
              <a:gd name="adj" fmla="val 3529"/>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333" name="Google Shape;333;p23" descr="Serene underwater view of sun rays beaming through clear blue ocean water, peaceful marine environment, minimal background texture"/>
          <p:cNvPicPr preferRelativeResize="0"/>
          <p:nvPr/>
        </p:nvPicPr>
        <p:blipFill rotWithShape="1">
          <a:blip r:embed="rId3">
            <a:alphaModFix amt="12000"/>
          </a:blip>
          <a:srcRect t="15654" b="15660"/>
          <a:stretch/>
        </p:blipFill>
        <p:spPr>
          <a:xfrm>
            <a:off x="381000" y="857250"/>
            <a:ext cx="8382000" cy="3238500"/>
          </a:xfrm>
          <a:prstGeom prst="roundRect">
            <a:avLst>
              <a:gd name="adj" fmla="val 3529"/>
            </a:avLst>
          </a:prstGeom>
          <a:noFill/>
          <a:ln>
            <a:noFill/>
          </a:ln>
        </p:spPr>
      </p:pic>
      <p:sp>
        <p:nvSpPr>
          <p:cNvPr id="334" name="Google Shape;334;p23"/>
          <p:cNvSpPr/>
          <p:nvPr/>
        </p:nvSpPr>
        <p:spPr>
          <a:xfrm>
            <a:off x="381000" y="857250"/>
            <a:ext cx="8382000" cy="38100"/>
          </a:xfrm>
          <a:prstGeom prst="rect">
            <a:avLst/>
          </a:prstGeom>
          <a:solidFill>
            <a:srgbClr val="1D70A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5" name="Google Shape;335;p23"/>
          <p:cNvSpPr txBox="1"/>
          <p:nvPr/>
        </p:nvSpPr>
        <p:spPr>
          <a:xfrm>
            <a:off x="762000" y="1238250"/>
            <a:ext cx="7620000" cy="1714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3200" b="1">
                <a:solidFill>
                  <a:srgbClr val="0B2545"/>
                </a:solidFill>
                <a:latin typeface="Montserrat"/>
                <a:ea typeface="Montserrat"/>
                <a:cs typeface="Montserrat"/>
                <a:sym typeface="Montserrat"/>
              </a:rPr>
              <a:t>Thank You for Watching!</a:t>
            </a:r>
            <a:endParaRPr sz="3200" b="1">
              <a:solidFill>
                <a:srgbClr val="0B2545"/>
              </a:solidFill>
              <a:latin typeface="Montserrat"/>
              <a:ea typeface="Montserrat"/>
              <a:cs typeface="Montserrat"/>
              <a:sym typeface="Montserrat"/>
            </a:endParaRPr>
          </a:p>
          <a:p>
            <a:pPr marL="0" lvl="0" indent="0" algn="ctr" rtl="0">
              <a:spcBef>
                <a:spcPts val="900"/>
              </a:spcBef>
              <a:spcAft>
                <a:spcPts val="0"/>
              </a:spcAft>
              <a:buNone/>
            </a:pPr>
            <a:r>
              <a:rPr lang="en-GB" sz="1300" b="0">
                <a:solidFill>
                  <a:srgbClr val="4A6582"/>
                </a:solidFill>
                <a:latin typeface="Inter"/>
                <a:ea typeface="Inter"/>
                <a:cs typeface="Inter"/>
                <a:sym typeface="Inter"/>
              </a:rPr>
              <a:t>Prioritizing ocean safety through data-driven insights and awareness.</a:t>
            </a:r>
            <a:endParaRPr sz="1300" b="0">
              <a:solidFill>
                <a:srgbClr val="4A6582"/>
              </a:solidFill>
              <a:latin typeface="Inter"/>
              <a:ea typeface="Inter"/>
              <a:cs typeface="Inter"/>
              <a:sym typeface="Inter"/>
            </a:endParaRPr>
          </a:p>
        </p:txBody>
      </p:sp>
      <p:grpSp>
        <p:nvGrpSpPr>
          <p:cNvPr id="336" name="Google Shape;336;p23"/>
          <p:cNvGrpSpPr/>
          <p:nvPr/>
        </p:nvGrpSpPr>
        <p:grpSpPr>
          <a:xfrm>
            <a:off x="2381250" y="3238500"/>
            <a:ext cx="4381500" cy="476400"/>
            <a:chOff x="0" y="0"/>
            <a:chExt cx="4381500" cy="476400"/>
          </a:xfrm>
        </p:grpSpPr>
        <p:sp>
          <p:nvSpPr>
            <p:cNvPr id="337" name="Google Shape;337;p23"/>
            <p:cNvSpPr/>
            <p:nvPr/>
          </p:nvSpPr>
          <p:spPr>
            <a:xfrm>
              <a:off x="0" y="0"/>
              <a:ext cx="4381500" cy="476400"/>
            </a:xfrm>
            <a:prstGeom prst="roundRect">
              <a:avLst>
                <a:gd name="adj" fmla="val 50000"/>
              </a:avLst>
            </a:prstGeom>
            <a:solidFill>
              <a:srgbClr val="F4F7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8" name="Google Shape;338;p23"/>
            <p:cNvSpPr txBox="1"/>
            <p:nvPr/>
          </p:nvSpPr>
          <p:spPr>
            <a:xfrm>
              <a:off x="190500" y="0"/>
              <a:ext cx="4000500" cy="476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00" b="0">
                  <a:solidFill>
                    <a:srgbClr val="1D70A2"/>
                  </a:solidFill>
                  <a:latin typeface="Inter Medium"/>
                  <a:ea typeface="Inter Medium"/>
                  <a:cs typeface="Inter Medium"/>
                  <a:sym typeface="Inter Medium"/>
                </a:rPr>
                <a:t>Safe Travels &amp; Explore Responsibly</a:t>
              </a:r>
              <a:endParaRPr sz="1000" b="0">
                <a:solidFill>
                  <a:srgbClr val="1D70A2"/>
                </a:solidFill>
                <a:latin typeface="Inter Medium"/>
                <a:ea typeface="Inter Medium"/>
                <a:cs typeface="Inter Medium"/>
                <a:sym typeface="Inter Medium"/>
              </a:endParaRPr>
            </a:p>
          </p:txBody>
        </p:sp>
      </p:grpSp>
      <p:sp>
        <p:nvSpPr>
          <p:cNvPr id="339" name="Google Shape;339;p23"/>
          <p:cNvSpPr/>
          <p:nvPr/>
        </p:nvSpPr>
        <p:spPr>
          <a:xfrm>
            <a:off x="0" y="4318000"/>
            <a:ext cx="9144000" cy="825600"/>
          </a:xfrm>
          <a:custGeom>
            <a:avLst/>
            <a:gdLst/>
            <a:ahLst/>
            <a:cxnLst/>
            <a:rect l="l" t="t" r="r" b="b"/>
            <a:pathLst>
              <a:path w="120000" h="120000" extrusionOk="0">
                <a:moveTo>
                  <a:pt x="0" y="36923"/>
                </a:moveTo>
                <a:cubicBezTo>
                  <a:pt x="20000" y="0"/>
                  <a:pt x="40000" y="0"/>
                  <a:pt x="60000" y="36923"/>
                </a:cubicBezTo>
                <a:lnTo>
                  <a:pt x="120000" y="36923"/>
                </a:lnTo>
                <a:lnTo>
                  <a:pt x="120000" y="120000"/>
                </a:lnTo>
                <a:lnTo>
                  <a:pt x="0" y="120000"/>
                </a:lnTo>
                <a:close/>
              </a:path>
            </a:pathLst>
          </a:custGeom>
          <a:solidFill>
            <a:srgbClr val="0B254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 name="CaixaDeTexto 2">
            <a:extLst>
              <a:ext uri="{FF2B5EF4-FFF2-40B4-BE49-F238E27FC236}">
                <a16:creationId xmlns:a16="http://schemas.microsoft.com/office/drawing/2014/main" id="{364FE6D5-6153-9A3D-0F95-7FE80DFF9FAC}"/>
              </a:ext>
            </a:extLst>
          </p:cNvPr>
          <p:cNvSpPr txBox="1"/>
          <p:nvPr/>
        </p:nvSpPr>
        <p:spPr>
          <a:xfrm>
            <a:off x="4572000" y="4707107"/>
            <a:ext cx="3796146" cy="338554"/>
          </a:xfrm>
          <a:prstGeom prst="rect">
            <a:avLst/>
          </a:prstGeom>
          <a:noFill/>
        </p:spPr>
        <p:txBody>
          <a:bodyPr wrap="square" rtlCol="0">
            <a:spAutoFit/>
          </a:bodyPr>
          <a:lstStyle/>
          <a:p>
            <a:r>
              <a:rPr lang="pt-PT" sz="800" b="1" dirty="0">
                <a:solidFill>
                  <a:schemeClr val="bg1"/>
                </a:solidFill>
                <a:latin typeface="Inter" panose="020B0604020202020204" charset="0"/>
                <a:ea typeface="Inter" panose="020B0604020202020204" charset="0"/>
              </a:rPr>
              <a:t>Project Team :</a:t>
            </a:r>
          </a:p>
          <a:p>
            <a:r>
              <a:rPr lang="pt-PT" sz="800" dirty="0">
                <a:solidFill>
                  <a:schemeClr val="bg1"/>
                </a:solidFill>
              </a:rPr>
              <a:t>Berta </a:t>
            </a:r>
            <a:r>
              <a:rPr lang="pt-PT" sz="800" dirty="0" err="1">
                <a:solidFill>
                  <a:schemeClr val="bg1"/>
                </a:solidFill>
              </a:rPr>
              <a:t>Nieto</a:t>
            </a:r>
            <a:r>
              <a:rPr lang="pt-PT" sz="800" dirty="0">
                <a:solidFill>
                  <a:schemeClr val="bg1"/>
                </a:solidFill>
              </a:rPr>
              <a:t> Romero | Juliana Therezo | </a:t>
            </a:r>
            <a:r>
              <a:rPr lang="pt-PT" sz="800" dirty="0" err="1">
                <a:solidFill>
                  <a:schemeClr val="bg1"/>
                </a:solidFill>
              </a:rPr>
              <a:t>Sofija</a:t>
            </a:r>
            <a:r>
              <a:rPr lang="pt-PT" sz="800" dirty="0">
                <a:solidFill>
                  <a:schemeClr val="bg1"/>
                </a:solidFill>
              </a:rPr>
              <a:t> </a:t>
            </a:r>
            <a:r>
              <a:rPr lang="pt-PT" sz="800" dirty="0" err="1">
                <a:solidFill>
                  <a:schemeClr val="bg1"/>
                </a:solidFill>
              </a:rPr>
              <a:t>Šarafejeva</a:t>
            </a:r>
            <a:r>
              <a:rPr lang="pt-PT" sz="800" dirty="0">
                <a:solidFill>
                  <a:schemeClr val="bg1"/>
                </a:solidFill>
              </a:rPr>
              <a:t> | </a:t>
            </a:r>
            <a:r>
              <a:rPr lang="pt-PT" sz="800" dirty="0" err="1">
                <a:solidFill>
                  <a:schemeClr val="bg1"/>
                </a:solidFill>
              </a:rPr>
              <a:t>Yurii</a:t>
            </a:r>
            <a:r>
              <a:rPr lang="pt-PT" sz="800" dirty="0">
                <a:solidFill>
                  <a:schemeClr val="bg1"/>
                </a:solidFill>
              </a:rPr>
              <a:t> </a:t>
            </a:r>
            <a:r>
              <a:rPr lang="pt-PT" sz="800" dirty="0" err="1">
                <a:solidFill>
                  <a:schemeClr val="bg1"/>
                </a:solidFill>
              </a:rPr>
              <a:t>Slobodchukov</a:t>
            </a:r>
            <a:endParaRPr lang="pt-PT" b="1" dirty="0">
              <a:solidFill>
                <a:schemeClr val="bg1"/>
              </a:solidFill>
              <a:latin typeface="Inter" panose="020B0604020202020204" charset="0"/>
              <a:ea typeface="Inter" panose="020B0604020202020204" charset="0"/>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TotalTime>
  <Words>956</Words>
  <Application>Microsoft Office PowerPoint</Application>
  <PresentationFormat>Apresentação no Ecrã (16:9)</PresentationFormat>
  <Paragraphs>133</Paragraphs>
  <Slides>10</Slides>
  <Notes>10</Notes>
  <HiddenSlides>0</HiddenSlides>
  <MMClips>0</MMClips>
  <ScaleCrop>false</ScaleCrop>
  <HeadingPairs>
    <vt:vector size="6" baseType="variant">
      <vt:variant>
        <vt:lpstr>Tipos de letra usados</vt:lpstr>
      </vt:variant>
      <vt:variant>
        <vt:i4>7</vt:i4>
      </vt:variant>
      <vt:variant>
        <vt:lpstr>Tema</vt:lpstr>
      </vt:variant>
      <vt:variant>
        <vt:i4>1</vt:i4>
      </vt:variant>
      <vt:variant>
        <vt:lpstr>Títulos dos diapositivos</vt:lpstr>
      </vt:variant>
      <vt:variant>
        <vt:i4>10</vt:i4>
      </vt:variant>
    </vt:vector>
  </HeadingPairs>
  <TitlesOfParts>
    <vt:vector size="18" baseType="lpstr">
      <vt:lpstr>Inter SemiBold</vt:lpstr>
      <vt:lpstr>Montserrat</vt:lpstr>
      <vt:lpstr>Arial</vt:lpstr>
      <vt:lpstr>Inter Medium</vt:lpstr>
      <vt:lpstr>Courier New</vt:lpstr>
      <vt:lpstr>Montserrat SemiBold</vt:lpstr>
      <vt:lpstr>Inter</vt:lpstr>
      <vt:lpstr>Simple Light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Juliana Therezo</cp:lastModifiedBy>
  <cp:revision>2</cp:revision>
  <dcterms:modified xsi:type="dcterms:W3CDTF">2026-09-25T09:55:28Z</dcterms:modified>
</cp:coreProperties>
</file>